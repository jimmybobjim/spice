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CD3C60-46A0-0489-4FFA-D4D85EAD13C6}">
          <p14:sldIdLst>
            <p14:sldId id="256"/>
            <p14:sldId id="257"/>
            <p14:sldId id="258"/>
          </p14:sldIdLst>
        </p14:section>
        <p14:section name="Foundations" id="{17EFF815-0D43-274D-8F6B-5AF932DD0082}">
          <p14:sldIdLst>
            <p14:sldId id="259"/>
            <p14:sldId id="260"/>
            <p14:sldId id="261"/>
          </p14:sldIdLst>
        </p14:section>
        <p14:section name="The mathematics" id="{D99CBDC8-7CC9-3FF9-9BCC-7C73ECAA16AD}">
          <p14:sldIdLst>
            <p14:sldId id="262"/>
            <p14:sldId id="263"/>
            <p14:sldId id="264"/>
            <p14:sldId id="265"/>
            <p14:sldId id="266"/>
            <p14:sldId id="267"/>
          </p14:sldIdLst>
        </p14:section>
        <p14:section name="Devices and proof" id="{42F42833-91DB-7A25-78FB-49F08F0A7989}">
          <p14:sldIdLst>
            <p14:sldId id="268"/>
            <p14:sldId id="269"/>
          </p14:sldIdLst>
        </p14:section>
        <p14:section name="Engineering and close" id="{1457FFED-52D6-D321-FA30-D4B93E9E2B69}">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3874" autoAdjust="0"/>
  </p:normalViewPr>
  <p:slideViewPr>
    <p:cSldViewPr snapToGrid="0" snapToObjects="1">
      <p:cViewPr varScale="1">
        <p:scale>
          <a:sx n="74" d="100"/>
          <a:sy n="74" d="100"/>
        </p:scale>
        <p:origin x="258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1C1C"/>
                </a:solidFill>
                <a:latin typeface="+mn-lt"/>
              </a:defRPr>
            </a:pPr>
            <a:r>
              <a:rPr lang="en-GB" sz="1300" b="0" i="0" u="none" strike="noStrike">
                <a:solidFill>
                  <a:srgbClr val="1C1C1C"/>
                </a:solidFill>
                <a:latin typeface="+mn-lt"/>
              </a:rPr>
              <a:t>RC low-pass: gain vs frequency</a:t>
            </a:r>
          </a:p>
        </c:rich>
      </c:tx>
      <c:overlay val="0"/>
    </c:title>
    <c:autoTitleDeleted val="0"/>
    <c:plotArea>
      <c:layout/>
      <c:lineChart>
        <c:grouping val="standard"/>
        <c:varyColors val="0"/>
        <c:ser>
          <c:idx val="0"/>
          <c:order val="0"/>
          <c:tx>
            <c:strRef>
              <c:f>Sheet1!$B$1</c:f>
              <c:strCache>
                <c:ptCount val="1"/>
                <c:pt idx="0">
                  <c:v>Gain (dB)</c:v>
                </c:pt>
              </c:strCache>
            </c:strRef>
          </c:tx>
          <c:spPr>
            <a:ln w="38100" cap="flat">
              <a:solidFill>
                <a:srgbClr val="1F5F7A"/>
              </a:solidFill>
              <a:prstDash val="solid"/>
              <a:round/>
            </a:ln>
            <a:effectLst/>
          </c:spPr>
          <c:marker>
            <c:symbol val="circle"/>
            <c:size val="7"/>
            <c:spPr>
              <a:solidFill>
                <a:srgbClr val="1F5F7A"/>
              </a:solidFill>
              <a:ln w="9525" cap="flat">
                <a:solidFill>
                  <a:srgbClr val="1F5F7A"/>
                </a:solidFill>
                <a:prstDash val="solid"/>
                <a:round/>
              </a:ln>
              <a:effectLst/>
            </c:spPr>
          </c:marker>
          <c:cat>
            <c:strRef>
              <c:f>Sheet1!$A$2:$A$10</c:f>
              <c:strCache>
                <c:ptCount val="9"/>
                <c:pt idx="0">
                  <c:v>10</c:v>
                </c:pt>
                <c:pt idx="1">
                  <c:v>32</c:v>
                </c:pt>
                <c:pt idx="2">
                  <c:v>100</c:v>
                </c:pt>
                <c:pt idx="3">
                  <c:v>316</c:v>
                </c:pt>
                <c:pt idx="4">
                  <c:v>1k</c:v>
                </c:pt>
                <c:pt idx="5">
                  <c:v>3.2k</c:v>
                </c:pt>
                <c:pt idx="6">
                  <c:v>10k</c:v>
                </c:pt>
                <c:pt idx="7">
                  <c:v>32k</c:v>
                </c:pt>
                <c:pt idx="8">
                  <c:v>100k</c:v>
                </c:pt>
              </c:strCache>
            </c:strRef>
          </c:cat>
          <c:val>
            <c:numRef>
              <c:f>Sheet1!$B$2:$B$10</c:f>
              <c:numCache>
                <c:formatCode>General</c:formatCode>
                <c:ptCount val="9"/>
                <c:pt idx="0">
                  <c:v>-0.02</c:v>
                </c:pt>
                <c:pt idx="1">
                  <c:v>-0.17</c:v>
                </c:pt>
                <c:pt idx="2">
                  <c:v>-1.45</c:v>
                </c:pt>
                <c:pt idx="3">
                  <c:v>-6.94</c:v>
                </c:pt>
                <c:pt idx="4">
                  <c:v>-16.07</c:v>
                </c:pt>
                <c:pt idx="5">
                  <c:v>-25.97</c:v>
                </c:pt>
                <c:pt idx="6">
                  <c:v>-35.96</c:v>
                </c:pt>
                <c:pt idx="7">
                  <c:v>-45.96</c:v>
                </c:pt>
                <c:pt idx="8">
                  <c:v>-55.96</c:v>
                </c:pt>
              </c:numCache>
            </c:numRef>
          </c:val>
          <c:smooth val="0"/>
          <c:extLst>
            <c:ext xmlns:c16="http://schemas.microsoft.com/office/drawing/2014/chart" uri="{C3380CC4-5D6E-409C-BE32-E72D297353CC}">
              <c16:uniqueId val="{00000000-5188-4394-B219-77F262C06B0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6696B"/>
                    </a:solidFill>
                    <a:latin typeface="Arial"/>
                  </a:defRPr>
                </a:pPr>
                <a:r>
                  <a:rPr lang="en-AU" sz="1100" b="0" i="0" u="none" strike="noStrike">
                    <a:solidFill>
                      <a:srgbClr val="66696B"/>
                    </a:solidFill>
                    <a:latin typeface="Arial"/>
                  </a:rPr>
                  <a:t>Frequency (Hz)</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2"/>
        <c:crosses val="autoZero"/>
        <c:auto val="1"/>
        <c:lblAlgn val="ctr"/>
        <c:lblOffset val="100"/>
        <c:noMultiLvlLbl val="1"/>
      </c:catAx>
      <c:valAx>
        <c:axId val="2094734552"/>
        <c:scaling>
          <c:orientation val="minMax"/>
          <c:max val="0"/>
          <c:min val="-60"/>
        </c:scaling>
        <c:delete val="0"/>
        <c:axPos val="l"/>
        <c:majorGridlines>
          <c:spPr>
            <a:ln w="9525" cap="flat">
              <a:solidFill>
                <a:srgbClr val="D4D6D8"/>
              </a:solidFill>
              <a:prstDash val="solid"/>
              <a:round/>
            </a:ln>
          </c:spPr>
        </c:majorGridlines>
        <c:title>
          <c:tx>
            <c:rich>
              <a:bodyPr/>
              <a:lstStyle/>
              <a:p>
                <a:pPr>
                  <a:defRPr sz="1100" b="0" i="0" u="none" strike="noStrike">
                    <a:solidFill>
                      <a:srgbClr val="66696B"/>
                    </a:solidFill>
                    <a:latin typeface="Arial"/>
                  </a:defRPr>
                </a:pPr>
                <a:r>
                  <a:rPr lang="en-AU" sz="1100" b="0" i="0" u="none" strike="noStrike">
                    <a:solidFill>
                      <a:srgbClr val="66696B"/>
                    </a:solidFill>
                    <a:latin typeface="Arial"/>
                  </a:rPr>
                  <a:t>dB</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1C1C"/>
                </a:solidFill>
                <a:latin typeface="+mn-lt"/>
              </a:defRPr>
            </a:pPr>
            <a:r>
              <a:rPr lang="en-GB" sz="1300" b="0" i="0" u="none" strike="noStrike">
                <a:solidFill>
                  <a:srgbClr val="1C1C1C"/>
                </a:solidFill>
                <a:latin typeface="+mn-lt"/>
              </a:rPr>
              <a:t>RC step error at t = τ, by step size h</a:t>
            </a:r>
          </a:p>
        </c:rich>
      </c:tx>
      <c:overlay val="0"/>
    </c:title>
    <c:autoTitleDeleted val="0"/>
    <c:plotArea>
      <c:layout/>
      <c:lineChart>
        <c:grouping val="standard"/>
        <c:varyColors val="0"/>
        <c:ser>
          <c:idx val="0"/>
          <c:order val="0"/>
          <c:tx>
            <c:strRef>
              <c:f>Sheet1!$B$1</c:f>
              <c:strCache>
                <c:ptCount val="1"/>
                <c:pt idx="0">
                  <c:v>Backward Euler</c:v>
                </c:pt>
              </c:strCache>
            </c:strRef>
          </c:tx>
          <c:spPr>
            <a:ln w="38100" cap="flat">
              <a:solidFill>
                <a:srgbClr val="1F5F7A"/>
              </a:solidFill>
              <a:prstDash val="solid"/>
              <a:round/>
            </a:ln>
            <a:effectLst/>
          </c:spPr>
          <c:marker>
            <c:symbol val="circle"/>
            <c:size val="8"/>
            <c:spPr>
              <a:solidFill>
                <a:srgbClr val="1F5F7A"/>
              </a:solidFill>
              <a:ln w="9525" cap="flat">
                <a:solidFill>
                  <a:srgbClr val="1F5F7A"/>
                </a:solidFill>
                <a:prstDash val="solid"/>
                <a:round/>
              </a:ln>
              <a:effectLst/>
            </c:spPr>
          </c:marker>
          <c:cat>
            <c:strRef>
              <c:f>Sheet1!$A$2:$A$5</c:f>
              <c:strCache>
                <c:ptCount val="4"/>
                <c:pt idx="0">
                  <c:v>200 µs</c:v>
                </c:pt>
                <c:pt idx="1">
                  <c:v>100 µs</c:v>
                </c:pt>
                <c:pt idx="2">
                  <c:v>50 µs</c:v>
                </c:pt>
                <c:pt idx="3">
                  <c:v>10 µs</c:v>
                </c:pt>
              </c:strCache>
            </c:strRef>
          </c:cat>
          <c:val>
            <c:numRef>
              <c:f>Sheet1!$B$2:$B$5</c:f>
              <c:numCache>
                <c:formatCode>General</c:formatCode>
                <c:ptCount val="4"/>
                <c:pt idx="0">
                  <c:v>3.4000000000000002E-2</c:v>
                </c:pt>
                <c:pt idx="1">
                  <c:v>1.77E-2</c:v>
                </c:pt>
                <c:pt idx="2">
                  <c:v>9.0100000000000006E-3</c:v>
                </c:pt>
                <c:pt idx="3">
                  <c:v>1.83E-3</c:v>
                </c:pt>
              </c:numCache>
            </c:numRef>
          </c:val>
          <c:smooth val="0"/>
          <c:extLst>
            <c:ext xmlns:c16="http://schemas.microsoft.com/office/drawing/2014/chart" uri="{C3380CC4-5D6E-409C-BE32-E72D297353CC}">
              <c16:uniqueId val="{00000000-02EA-472C-BF49-285C9D740B83}"/>
            </c:ext>
          </c:extLst>
        </c:ser>
        <c:ser>
          <c:idx val="1"/>
          <c:order val="1"/>
          <c:tx>
            <c:strRef>
              <c:f>Sheet1!$C$1</c:f>
              <c:strCache>
                <c:ptCount val="1"/>
                <c:pt idx="0">
                  <c:v>Trapezoidal</c:v>
                </c:pt>
              </c:strCache>
            </c:strRef>
          </c:tx>
          <c:spPr>
            <a:ln w="38100" cap="flat">
              <a:solidFill>
                <a:srgbClr val="9B2C2C"/>
              </a:solidFill>
              <a:prstDash val="solid"/>
              <a:round/>
            </a:ln>
            <a:effectLst/>
          </c:spPr>
          <c:marker>
            <c:symbol val="circle"/>
            <c:size val="8"/>
            <c:spPr>
              <a:solidFill>
                <a:srgbClr val="9B2C2C"/>
              </a:solidFill>
              <a:ln w="9525" cap="flat">
                <a:solidFill>
                  <a:srgbClr val="9B2C2C"/>
                </a:solidFill>
                <a:prstDash val="solid"/>
                <a:round/>
              </a:ln>
              <a:effectLst/>
            </c:spPr>
          </c:marker>
          <c:cat>
            <c:strRef>
              <c:f>Sheet1!$A$2:$A$5</c:f>
              <c:strCache>
                <c:ptCount val="4"/>
                <c:pt idx="0">
                  <c:v>200 µs</c:v>
                </c:pt>
                <c:pt idx="1">
                  <c:v>100 µs</c:v>
                </c:pt>
                <c:pt idx="2">
                  <c:v>50 µs</c:v>
                </c:pt>
                <c:pt idx="3">
                  <c:v>10 µs</c:v>
                </c:pt>
              </c:strCache>
            </c:strRef>
          </c:cat>
          <c:val>
            <c:numRef>
              <c:f>Sheet1!$C$2:$C$5</c:f>
              <c:numCache>
                <c:formatCode>General</c:formatCode>
                <c:ptCount val="4"/>
                <c:pt idx="0">
                  <c:v>1.23E-3</c:v>
                </c:pt>
                <c:pt idx="1">
                  <c:v>3.0699999999999998E-4</c:v>
                </c:pt>
                <c:pt idx="2">
                  <c:v>7.6699999999999994E-5</c:v>
                </c:pt>
                <c:pt idx="3">
                  <c:v>3.0699999999999998E-6</c:v>
                </c:pt>
              </c:numCache>
            </c:numRef>
          </c:val>
          <c:smooth val="0"/>
          <c:extLst>
            <c:ext xmlns:c16="http://schemas.microsoft.com/office/drawing/2014/chart" uri="{C3380CC4-5D6E-409C-BE32-E72D297353CC}">
              <c16:uniqueId val="{00000001-02EA-472C-BF49-285C9D740B8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2"/>
        <c:crosses val="autoZero"/>
        <c:auto val="1"/>
        <c:lblAlgn val="ctr"/>
        <c:lblOffset val="100"/>
        <c:noMultiLvlLbl val="1"/>
      </c:catAx>
      <c:valAx>
        <c:axId val="2094734552"/>
        <c:scaling>
          <c:logBase val="10"/>
          <c:orientation val="minMax"/>
          <c:max val="0.1"/>
          <c:min val="9.9999999999999995E-7"/>
        </c:scaling>
        <c:delete val="0"/>
        <c:axPos val="l"/>
        <c:majorGridlines>
          <c:spPr>
            <a:ln w="9525" cap="flat">
              <a:solidFill>
                <a:srgbClr val="D4D6D8"/>
              </a:solidFill>
              <a:prstDash val="solid"/>
              <a:round/>
            </a:ln>
          </c:spPr>
        </c:majorGridlines>
        <c:numFmt formatCode="0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6696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1C1C"/>
                </a:solidFill>
                <a:latin typeface="+mn-lt"/>
              </a:defRPr>
            </a:pPr>
            <a:r>
              <a:rPr lang="en-AU" sz="1300" b="0" i="0" u="none" strike="noStrike">
                <a:solidFill>
                  <a:srgbClr val="1C1C1C"/>
                </a:solidFill>
                <a:latin typeface="+mn-lt"/>
              </a:rPr>
              <a:t>Diode voltage per Newton iteration</a:t>
            </a:r>
          </a:p>
        </c:rich>
      </c:tx>
      <c:overlay val="0"/>
    </c:title>
    <c:autoTitleDeleted val="0"/>
    <c:plotArea>
      <c:layout/>
      <c:lineChart>
        <c:grouping val="standard"/>
        <c:varyColors val="0"/>
        <c:ser>
          <c:idx val="0"/>
          <c:order val="0"/>
          <c:tx>
            <c:strRef>
              <c:f>Sheet1!$B$1</c:f>
              <c:strCache>
                <c:ptCount val="1"/>
                <c:pt idx="0">
                  <c:v>Diode voltage (V)</c:v>
                </c:pt>
              </c:strCache>
            </c:strRef>
          </c:tx>
          <c:spPr>
            <a:ln w="38100" cap="flat">
              <a:solidFill>
                <a:srgbClr val="9B2C2C"/>
              </a:solidFill>
              <a:prstDash val="solid"/>
              <a:round/>
            </a:ln>
            <a:effectLst/>
          </c:spPr>
          <c:marker>
            <c:symbol val="circle"/>
            <c:size val="8"/>
            <c:spPr>
              <a:solidFill>
                <a:srgbClr val="9B2C2C"/>
              </a:solidFill>
              <a:ln w="9525" cap="flat">
                <a:solidFill>
                  <a:srgbClr val="9B2C2C"/>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Sheet1!$B$2:$B$12</c:f>
              <c:numCache>
                <c:formatCode>General</c:formatCode>
                <c:ptCount val="11"/>
                <c:pt idx="0">
                  <c:v>5</c:v>
                </c:pt>
                <c:pt idx="1">
                  <c:v>5</c:v>
                </c:pt>
                <c:pt idx="2">
                  <c:v>4.9999330000000004</c:v>
                </c:pt>
                <c:pt idx="3">
                  <c:v>4.9880060000000004</c:v>
                </c:pt>
                <c:pt idx="4">
                  <c:v>3.5784470000000002</c:v>
                </c:pt>
                <c:pt idx="5">
                  <c:v>0.71588700000000005</c:v>
                </c:pt>
                <c:pt idx="6">
                  <c:v>0.70047400000000004</c:v>
                </c:pt>
                <c:pt idx="7">
                  <c:v>0.69360100000000002</c:v>
                </c:pt>
                <c:pt idx="8">
                  <c:v>0.69251399999999996</c:v>
                </c:pt>
                <c:pt idx="9">
                  <c:v>0.69249000000000005</c:v>
                </c:pt>
                <c:pt idx="10">
                  <c:v>0.69249000000000005</c:v>
                </c:pt>
              </c:numCache>
            </c:numRef>
          </c:val>
          <c:smooth val="0"/>
          <c:extLst>
            <c:ext xmlns:c16="http://schemas.microsoft.com/office/drawing/2014/chart" uri="{C3380CC4-5D6E-409C-BE32-E72D297353CC}">
              <c16:uniqueId val="{00000000-8867-4B9C-BA32-EA224377FE8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6696B"/>
                    </a:solidFill>
                    <a:latin typeface="Arial"/>
                  </a:defRPr>
                </a:pPr>
                <a:r>
                  <a:rPr lang="en-AU" sz="1000" b="0" i="0" u="none" strike="noStrike">
                    <a:solidFill>
                      <a:srgbClr val="66696B"/>
                    </a:solidFill>
                    <a:latin typeface="Arial"/>
                  </a:rPr>
                  <a:t>Iteration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2"/>
        <c:crosses val="autoZero"/>
        <c:auto val="1"/>
        <c:lblAlgn val="ctr"/>
        <c:lblOffset val="100"/>
        <c:noMultiLvlLbl val="1"/>
      </c:catAx>
      <c:valAx>
        <c:axId val="2094734552"/>
        <c:scaling>
          <c:orientation val="minMax"/>
          <c:max val="6"/>
          <c:min val="0"/>
        </c:scaling>
        <c:delete val="0"/>
        <c:axPos val="l"/>
        <c:majorGridlines>
          <c:spPr>
            <a:ln w="9525" cap="flat">
              <a:solidFill>
                <a:srgbClr val="D4D6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96B"/>
                </a:solidFill>
                <a:latin typeface="+mn-lt"/>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8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Start with the equation on the slide. Every circuit simulator, LTspice included, ends up solving a linear system like this one over and over. Over the next fifteen minutes or so I'll show how capacitors, inductors, diodes, transistors and the passage of time can each be converted into that form.
Don't explain G, x or b yet. The next few slides cover them.
Assumed background: KCL/KVL, Ohm's law, RC and LC behaviour, derivatives and integrals. Complex impedance, matrices and Newton's method are introduced from scratch.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I wrote a circuit simulator in Python. You give it a text file describing a circuit and it produces tables and graphs.
Numbers: 8 device types (resistor, capacitor, inductor, voltage source, current source, diode, BJT and MOSFET; subcircuits are also supported). 4 analyses: operating point, DC sweep, AC sweep and transient. 3788 lines of Python including tests, in over 35 files, with 28 automated tests.
NumPy and SciPy do the numerical work; the rest is my own code. It has a desktop window and a command line.
If asked how it compares with LTspice: the core methods are the same (modified nodal analysis, Newton iteration, companion models). LTspice adds sparse solvers, adaptive time steps and a much larger model library.
A screenshot of the window or a saved result would fit on this slide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program </a:t>
            </a:r>
            <a:r>
              <a:rPr lang="en-US"/>
              <a:t>has seven main </a:t>
            </a:r>
            <a:r>
              <a:rPr lang="en-US" dirty="0"/>
              <a:t>stages, and each one passes a plain data structure to the next, so each can be tested separately.
1. Parse: the text becomes a netlist of typed devices, model cards, subcircuits and analysis requests (spiceParser.py).
2. Flatten: subcircuits are expanded into ordinary components with renamed nodes.
3. Graph: nets are vertices and devices are edges (circuit.py, graph.py).
4. Matrices: the system builds G and C and a rule for the source vector b(t). Nonlinear devices are kept as models (system.py).
5. Solve: DC, AC or transient (solver.py).
6. Probe: pick out quantities like v(out), i(r1) or vdb(out) (simulate.py, probes.py).
7. Show: tables, CSV, plots and the window.
You could keep a small copy of this strip in the corner of later slides and highlight the current stage. Because each stage can be tested separately, the bugs described on slide 15 could be tracked down number by number.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SPICE came out of UC Berkeley in the early 1970s. LTspice, ngspice and most other simulators descend from it, and its netlist format is still the standard.
Point at the code. Each component is one line: name, the nodes it connects, then its value. The first letter of the name gives the type: R, C, L, V, I, D, Q, M, or X for a subcircuit. Nodes are just names, and node 0 (or gnd) is ground. Lines starting with a dot are instructions such as what to simulate and print, or device model parameters.
A source can have three descriptions: a DC value for the operating point, an AC magnitude and phase for frequency sweeps, and a time function (SIN, PULSE, PWL or EXP) for transient.
Unit suffixes: k is 1e3, u is 1e-6, n is 1e-9, p is 1e-12, f is 1e-15, m is milli (1e-3), and meg is mega (1e6). People used to engineering notation often expect m to mean mega, so it's worth mentioning.
One implementation detail: the parser reads the digits exactly using Python's Decimal and scales once at the end, so 10u becomes exactly 1e-05. Computing 10 times 1e-6 in floating point gives 9.999999999999999e-06. (util/spicetext.py)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Parsing isn't the interesting maths, but it's where users decide whether to trust the tool, so every message gives the line number and says what to fix.
Left side, what the reader does:
1. Strip comments, join continuation lines, and remember the line each statement started on. That's why an error can say line 7 even if the statement runs over lines 7 to 9.
2. Process dot directives first and device lines second, so a .model card can come after the device that uses it, as in real SPICE.
3. The first letter of the name picks the device class, and each class knows its own syntax.
4. Check values immediately. A negative resistance is reported at parse time with its line number rather than as a solver failure later.
The rule for errors: anything that would silently change the answer is an error, and anything minor is a warning. .param and .include are rejected, for example, but an unsupported parameter like diode series resistance only gives a warning. A simulator that quietly gives a wrong answer is worse than one that refuses.
Right side, subcircuits: a .subckt is a reusable block, like a function. The solver knows nothing about hierarchy, so the parser flattens it first. Components get the instance name as a prefix (r1 inside xa becomes xa.r1), internal nodes are prefixed too so two copies never share a node, and ground stays global. Blocks can be nested (xa.x1.r1), and a depth limit of 16 catches a block that instantiates itself.
Check value: two copies of a three-resistor divider, cascaded and loaded with 1 kilohm, give 12/19 = 0.631579 V from 12 V. The simulator matches the hand solution to six digits. It's like reusing one truss module many times in a structural model; hierarchy just saves typing.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slide is probably the most relevant for civil and mechanical students.
First, the graph in the code. An ordinary graph edge joins two vertices, but a transistor touches three nets, so the code uses a hypergraph where an edge can reach any number of vertices. Vertices are nets and edges are devices. Each device attaches through named roles (positive and negative, anode and cathode, collector, base and emitter, drain, gate and source). To be fair, the solver mostly just walks the edges and numbers the nets; the graph is mainly a clean, validated data structure.
Now the table. Any network with a conservation law at its junctions leads to the same matrix equation. A water distribution network or a heat exchanger network uses the same method with different labels.
Check the mechanical column against the equations. A mass obeys F = m dv/dt and a capacitor obeys i = C dv/dt, so mass corresponds to capacitance. A damper obeys F = b v and a resistor i = v/R, so R = 1/b. A spring corresponds to an inductor with L = 1/k.
For anyone who has seen the direct stiffness method: assembling a global K u = F from element matrices is the same operation as the stamping on the next slides.
Ground: voltages only mean something relative to another point. If every node is an unknown, adding 5 V to all of them still satisfies every equation, so the matrix is singular. Choosing one node as 0 V removes that freedom, just as fixing a support stops a structure from translating freely.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Spend time here.)
You know the rule that currents leaving a node sum to zero. Write that once per node and you get one equation per unknown voltage. Ohm's law is linear, so the equations are linear in the voltages and can be collected into a matrix.
For resistors only, using conductance g = 1/R: each diagonal entry is the sum of the conductances touching that node, and each off-diagonal entry is minus the conductance between the two nodes.
The example is the actual matrix from the code. A 10 V source feeds R1 = 1 kilohm in series with R2 = 3 kilohm to ground. The unknowns are v(in), v(out) and the source current i(V1).
Row 1 is KCL at node in: the current leaving through R1 plus the source current equals zero.
Row 2 is KCL at node out: (v(out) - v(in))/1k + v(out)/3k = 0, so the diagonal is 1/1k + 1/3k = 0.001333.
Row 3 is the source's own equation, v(in) = 10.
The solution is v(in) = 10 V, v(out) = 7.5 V and i(V1) = -2.5 mA. The negative sign is the SPICE convention: a source delivering power has negative current.
Each row is just the KCL equation you would write on paper; the program writes them for every node.
If the audience leaves understanding KCL as a matrix, a derivative as a difference and Newton's method as repeated tangent lines, they understand the whole program.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seconds)
Why "modified": plain nodal analysis needs each device's current as a function of node voltages, like i = g v. A voltage source can't provide that, because it fixes the voltage and allows any current. So its current becomes an extra unknown, and its equation, v(p) - v(n) = V, becomes an extra row. In this program the extra unknowns are the branch currents of every voltage source, inductor and capacitor.
A stamp is the small pattern each device adds to the big matrices. Go down the table. The resistor adds g on the diagonal at its two nodes and minus g off the diagonal. A current source only changes the right-hand side. A voltage source adds plus and minus one in its branch row and column. Capacitors and inductors do the same and also add an entry to the C matrix, which multiplies the rate of change.
Two details keep the code short. Ground has no row or column, so any pin on ground is simply skipped. And sources are recorded rather than built in: each stores its row, sign and source, and b is rebuilt when needed. The same matrices therefore serve DC (use the DC value), AC (use the phasor) and transient (use the waveform at time </a:t>
            </a:r>
            <a:r>
              <a:rPr lang="en-US"/>
              <a:t>t). </a:t>
            </a:r>
            <a:r>
              <a:rPr lang="en-US" dirty="0"/>
              <a:t>
Diodes and transistors aren't stamped once. They are re-linearised on every Newton iteration (slide 11).
If asked about signs: current through a two-terminal device is positive from its first node to its second, so a delivering voltage source shows negative current. Transistors report current into each terminal, so a PMOS carrying current out of its drain has negative drain current.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All the analyses come from one equation: G x + C dx/dt + i_nl(x) = b(t). x holds the unknowns (node voltages and branch currents). G is the algebraic part: resistors, source constraints and KCL. C is the storage part, capacitance and inductance, multiplying a rate of change. i_nl is the current of nonlinear devices, and b is the sources.
DC: nothing changes with time, so the C term drops out. The capacitor's row then says i = 0, an open circuit, and the inductor's row says v = 0, a short. Nothing is special-cased in the code; the DC rules follow from the equation. A DC sweep repeats the solve while stepping one source. The BJT example sweeps the base supply from 0 to 5 V and shows cutoff, active and saturation.
AC: for a sinusoid, differentiation becomes multiplication by j omega. A capacitor's impedance is 1/(j omega C) and an inductor's is j omega L. The matrix keeps the same shape but its entries are complex: (G + j omega C) X = B, where X has one phasor per unknown. The code builds the matrices for all frequencies as one 3D array and solves them in a single batched NumPy call. Sweeps are logarithmic because we think in decades.
Chart: RC low-pass with R = 1 kilohm and C = 1 microfarad. The corner is 1/(2 pi R C) = 159.15 Hz, and the simulation gives -3.01 dB and -45 degrees there, the textbook values. The chart plots H = 1/(1 + j omega R C), which is the same curve as the simulator's Bode plot.
AC analysis isn't a time simulation. It solves the steady-state equations at each frequency separately and relies on linearity, so nonlinear devices must first be linearised around their DC operating point. That's why the operating point comes first.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Spend time here.)
The C dx/dt term is a derivative, and a matrix solver only handles algebra. So we step through time in increments h and replace the derivative with a difference.
Backward Euler uses the slope over the step just taken: (G + C/h) x_k = b_k + (C/h) x_(k-1).
The trapezoidal rule averages the slope at both ends of the step: (G + 2C/h) x_k = b_k + b_(k-1) + (2C/h - G) x_(k-1).
The connection to calculus: a capacitor's voltage is v(0) plus (1/C) times the integral of i dt. Backward Euler is the rectangle rule for that integral and trapezoidal is the trapezoid rule from first-year calculus.
The most useful point in the talk: in the Backward Euler equation the capacitor behaves like a conductance C/h in parallel with a current source that remembers the previous voltage. So each time step is a resistor network with current sources, the same problem as DC.
Chart: error in the RC step response at t = 1 ms (one time constant, exact value 0.632121). At h = 200 us, Backward Euler is off by 3.40e-2 and trapezoidal by 1.23e-3. At 100 us: 1.77e-2 and 3.07e-4. At 50 us: 9.01e-3 and 7.67e-5. At 10 us: 1.83e-3 and 3.07e-6. Halving h halves the Backward Euler error (first order) and quarters the trapezoidal error (second order).
Trade-off: trapezoidal is more accurate but can ring after a sudden jump. Backward Euler is heavily damped and safer for stiff or discontinuous circuits.
For a linear circuit the step matrix is the same every step, so it's factorised once (LU) and each step only needs a forward and back substitution. The step size is fixed and chosen by the user; production simulators adapt it. A reasonable choice is about a tenth of the fastest time constant or smaller.
Optional detail: when a pulse jumps between grid points, the trapezoid rule treats the jump as a ramp over the whole step, which delays the edge by half a step. With h = tau/10 the RC response at t = tau was 0.613 instead of 0.632, and 1 - e^(-0.95) = 0.613 is exactly what a half-step delay predicts.
A transient simulation is a series of DC solves, where each one depends only on the one before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Spend time here.)
A resistor gives i = g v, which is a matrix entry. A diode gives i = Is (e^(v/(n Vt)) - 1), which isn't, so we have to solve f(x) = 0 for a nonlinear f. The exponential is steep: with Vt = 25.85 mV, every 59.5 mV of forward voltage multiplies the current by ten. In reverse bias the slope is almost zero, so the equations can become singular.
Newton's method with one variable. Take 5 V, 1 kilohm and a diode to ground. KCL at the diode node gives f(v) = (v - 5)/1000 + Is (e^(v/Vt) - 1) = 0. Guess a voltage, draw the tangent to f at that point, move to where the tangent crosses zero, and repeat: v_new = v - f(v)/f'(v). The tangent is a straight line, so each step is a linear problem, which the rest of the program already solves.
In circuit terms, at a guess v* the diode is replaced by a conductance g = dI/dV at v* in parallel with a current source I0 = I(v*) - g v*. The circuit is then just resistors and current sources. Stamp it, solve it with the DC code, and repeat. With many unknowns the slope becomes the Jacobian, and the code solves (G + J) x = b - constant each iteration. A transistor contributes a small block of conductances (gm, output conductance and so on) instead of one.
Chart: the real trace for 5 V, 1 kilohm and a default diode (Is = 1e-14 A): 5.000000, 5.000000, 4.999933, 4.988006, 3.578447, 0.715887, 0.700474, 0.693601, 0.692514, 0.692490, 0.692490. It converges to 0.692490 V and 4.3075 mA, matching (5 - 0.69249)/1000. At the first iteration the diode looks almost open at 0 V, so the guess jumps to 5 V. The exponential there would be about e^193, or 1e84, giving a current around 1e70 amps. Iterations 2 to 6 are the limiter pulling the point back (next slide). From iteration 7 the number of correct digits roughly doubles each step.
Stopping rule: every unknown changes by less than 1e-6 relative plus 1e-9 V absolute (1e-12 A for branch currents), and no limiting was applied in that iteration. Maximum 100 iterations.
For civil and mechanical students: this is the Newton-Raphson iteration used in nonlinear structural analysis, with the tangent stiffness matrix playing the role of the Jacobian.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Refer back to the trace: the first iteration jumped to 5 V, and evaluating the exponential there would give about 1e70 amps. These safeguards deal with that.
1. Overflow-safe exponential: beyond x = 40 (e^40 is about 2.4e17) it continues as a straight line, returning value and slope together.
2. Junction limiting (pnjlim, taken from SPICE): if the new voltage is above the critical voltage (about 0.73 V for the default diode) and the jump exceeds 2 Vt, replace it with a logarithmic step, v_old + Vt ln(1 + change/Vt). This is how the 5.0 V overshoot comes back to 0.72 V over iterations 2 to 6. For MOSFETs, each control voltage can change by at most 2 V per iteration.
3. Limited flag: an iteration where any voltage was limited can't count as converged.
4. gmin: a tiny conductance (1e-12 S) from every node to ground and across every junction. It prevents singular matrices from floating nodes or reverse-biased junctions and shifts kilohm-scale results by about one part in a billion.
5. Stepping: solve an easier version of the problem first and gradually change it into the real one, using each answer as the next starting guess. gmin stepping starts with a large conductance from every node to ground and reduces it to 1e-12. Source stepping ramps all sources from 10 to 100 percent in ten steps. It's like applying a structure's load in increments.
6. Step halving: a transient step that doesn't converge is retried as two half-steps, recursively, up to 12 times.
Order tried: plain Newton from zero, then gmin stepping, then source stepping, then an error message that explains the likely cause, such as a missing bias path or a poor device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solver doesn't know what a diode or transistor is. It asks each device: given these voltages, what are your currents and slopes?
Left side. Every nonlinear device is described the same way: its terminals in a fixed order, its control voltages (the few voltage differences its current depends on), a model that returns terminal currents and their Jacobian, and a limiter. For a BJT the controls are v_be and v_bc. NPN and PNP, and NMOS and PMOS, are mirror images, so each device carries a sign of +1 or -1 and one model serves both polarities.
Models, briefly: the diode is Shockley, with optional Zener breakdown (a 5.1 V Zener fed by a ramp gives 4.97 V, 5.075 V and 5.094 V at inputs of 5 V, 7 V and 9 V). The BJT is the Ebers-Moll transport form with the Early effect; with betaF = 100 the simulated current ratio is 100.00004. The MOSFET is the level-1 square law with cut-off, triode and saturation regions. The models are static: no internal capacitances, fixed temperature, no body effect. You add real capacitors and resistors to the netlist for those.
Right side. AC analysis needs a linear circuit, but transistors aren't linear. So: (1) find the DC operating point with Newton, (2) linearise every device there, which gives the usual small-signal parameters gm, output conductance and input conductance, and (3) add that to G and solve (G + j omega C) at each frequency.
Common-emitter amplifier: Newton gives Ic = 1.3785 mA. By hand, gm = Ic/Vt = 53.3 mS and the mid-band gain is about gm x Rc = 53.3 mS x 3.3 kilohm = 175.98. The simulation gives 175.97 at 10 kHz with a phase of -179.5 degrees, so it's inverting.
That is agreement to about 0.01 percent between a textbook formula and a nonlinear simulation, and it's the strongest single check in the talk.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We didn't just check that it runs; we compared it with values that can be derived on paper. Every number in the table was produced by running the code.
Pick two or three rows to read out rather than going through the whole table. Good ones are the divider (7.4999999944 V, where the tiny difference from 7.5 is gmin), the diode circuit (4.3075 mA both ways) and the amplifier (175.97 against 175.98).
Other checks if asked: a 1 mA current source into 2 kilohm gives +2 V and -2 V in both orientations. The RC low-pass at 1 kHz is about 0.1566 (-16.07 dB). The LC ring (L = 1 mH, C = 1 uF) has f0 = 5033 Hz and is at -0.0072 V at the quarter period with a 1.0000 V peak. The NMOS in triode gives 0.2721 V by hand and the PMOS 4.358 V from a hand-solved quadratic.
There are also 28 automated tests that run in about 3 to 4 seconds. Re-run them before the talk (python -m unittest discover -s tests -t .) so the count is current.
Limitation, which is on the slide: the results were compared with hand calculations and textbook formulas, not with another simulator such as ngspice or LTspice. If you have time before the talk, run three of the examples in LTspice or ngspice and show the same numbers; that would make this slide stronger.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1"/>
                </a:solidFill>
              </a:rPr>
              <a:t>(About 1 minute)
Pick two or three points here rather than covering everything: layering, immutability and testing.
Left side, layering. The rule is that dependencies only point downward, so a lower layer never imports a higher one. When the project was first opened this rule was broken: the component module and the solver imported each other, and some import paths didn't exist, so nothing ran. Structural problems often show up first as unhelpful error messages. The fix was a restructure, not a typo fix. Because every analysis returns the same Solution shape (an axis plus a dictionary of voltages and currents), probes, tables, plots and CSV export were written once.
Immutable data: devices, sources and results are frozen dataclasses. A DC sweep makes a modified copy of the swept source for each point, so it can't corrupt the original circuit.
Right side, a debugging example. A Zener simulation failed to converge near t = 2.4e-8 s after twelve step halvings. The voltage limiter rewrote a value as -(-(v + BV)) - BV, which equals v mathematically but differs in the last bit of the floating-point number. The solver compared the two with exact equality, decided limiting had happened, and so never declared convergence. The fix was to change the value only when the limiter actually changed something. The general lesson is not to compare computed floating-point numbers for exact equality; in Python, 0.1 + 0.2 == 0.3 is False.
On testing: use hand-calculable checks, add a regression test for each bug, and use mutation checking, which means putting a bug back deliberately to confirm the test fails.
If there's time or a question, other examples: (a) the current-source stamp had the wrong sign, hidden because a ground pin is skipped, and the first regression test still passed with the bug present, which was found by putting the bug back; (b) a strengthened test failed on correct code because its expected value was wrong, so check the check; (c) the parser paired each statement with the next line's number, so error messages need testing too.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plus an optional 3-minute demo)
Summary. A circuit simulator turns each kind of circuit behaviour into a resistor network with current sources and solves it as a linear system. Capacitors, inductors, diodes, transistors and time steps each reduce to that.
1. KCL is a matrix: one equation per node, filled in by each device's stamp.
2. A derivative becomes a difference, so each time step is a DC-like solve with a current source holding the previous state.
3. A nonlinear device is replaced by its tangent, and Newton's method repeats a linear solve until the result stops changing.
4. Everything ends in one operation: solve A x = r for a matrix A. Finish on that sentence.
How the pieces connect, if you want a closing diagram: stamping builds G and C once. DC solves G x = b, with Newton added if there are nonlinear devices. AC finds the DC point with Newton, keeps the final tangents as small-signal parts, and solves a complex system at each frequency. Transient starts from DC and does a DC-like solve at every step, with Newton if needed, and halves a step that fails.
Demo (about 3 minutes). Rehearse on the machine you'll present from, at the projector resolution and theme.
1. Run python main.py, click Open netlist and choose examples/rc.cir. Show the table, then the Plot tab, and find the -3 dB point near 159 Hz.
2. Open examples/zener.cir. The output follows the input and flattens at about 5.1 V, where Newton's method is linearising the diode at every time step.
3. Open examples/amp.cir. Show the bias bar chart and the Bode plot. The mid-band gain is 176, and gm x Rc by hand is 175.98.
4. Error handling: change a resistor value to the word oops in a text editor, save, and press F5 in the window. The Messages tab names the line.
Backups: if the window won't open, run python batch.py beforehand (it saves a graph for every example without a window) and put four images on backup slides. Keep a terminal ready for python cli.py examples/rc.cir. Re-run the test suite so the claim of 28 passing tests is current.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These limits were choices, made to keep the core small enough to explain in 15 minutes.
Left side, what isn't included: dense matrices (fine for tens to hundreds of unknowns, thousands would need sparse storage); a fixed time step chosen by the user (production simulators adapt it); static device models with no internal capacitance, temperature dependence, body effect or noise (add real capacitors and resistors instead); a limited netlist language (no .param, .include, .measure or .step, a .dc sweep varies one source, no controlled sources E, F, G or H, no BJT substrate terminal, area factors rejected); and no comparison with another simulator, only with hand calculations. The window thins very long results for display (2000 table rows, 20,000 plot points), but CSV export always has every point.
Right side, possible next steps: sparse matrices, an adaptive time step, device capacitances, .param, controlled sources (which would allow ideal op-amps), and a comparison with ngspice.
Likely questions:
- Is this how LTspice works? The core is the same: modified nodal analysis, Newton iteration and companion models. LTspice adds sparse solvers, adaptive time steps and a large model library.
- Why not solve the differential equations exactly? For a few simple circuits you can, but with several storage elements or any nonlinearity there's generally no closed form.
- How accurate is it? For linear transients it depends on the step and method: halving the step halves the Backward Euler error and quarters the trapezoidal error. For DC and AC the only inexactness is floating-point arithmetic and gmin, about one part in a billion.
- Why complex numbers for AC? Because d/dt becomes multiplication by j omega, and one complex number carries both magnitude and phase, so the algebra stays linear.
- What is gmin physically? A leakage conductance of one picosiemens from every node to ground and across every junction, which prevents singular matrices.
- Could it handle a pipe network or heat exchanger? The mathematics would be the same. A turbulent pipe, where pressure drop grows with flow squared, is a nonlinear resistor and would use the same Newton iteration as the MOSFET square law. The program itself is electrical, so you'd add device types or relabel quantities.
- Why Python? It's readable, and NumPy and LAPACK do the heavy numerical work in compiled code, which is fast enough for hundreds of nodes. A production simulator would use C or C++.
- What is stiffness? A circuit with very fast and very slow time constants forces a method to take tiny steps to stay stable. Backward Euler stays stable with large steps but is less accurate, and trapezoidal is more accurate but can ring.
- What happens with a singular matrix? The error explains the likely cause: a loop of voltage sources or inductors, conflicting ideal sources, a net with no path to ground, or a cut-set of only current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AU"/>
          </a:p>
        </p:txBody>
      </p:sp>
      <p:sp>
        <p:nvSpPr>
          <p:cNvPr id="3" name="Text 1"/>
          <p:cNvSpPr>
            <a:spLocks noGrp="1"/>
          </p:cNvSpPr>
          <p:nvPr>
            <p:ph type="title" idx="101" hasCustomPrompt="1"/>
          </p:nvPr>
        </p:nvSpPr>
        <p:spPr>
          <a:xfrm>
            <a:off x="548640" y="640080"/>
            <a:ext cx="8046720" cy="914400"/>
          </a:xfrm>
          <a:prstGeom prst="rect">
            <a:avLst/>
          </a:prstGeom>
          <a:noFill/>
          <a:ln/>
        </p:spPr>
        <p:txBody>
          <a:bodyPr wrap="square" rtlCol="0"/>
          <a:lstStyle>
            <a:lvl1pPr marL="0" indent="0" algn="l">
              <a:buNone/>
              <a:defRPr lang="en-US" sz="4800" dirty="0">
                <a:solidFill>
                  <a:schemeClr val="bg1"/>
                </a:solidFill>
              </a:defRPr>
            </a:lvl1pPr>
          </a:lstStyle>
          <a:p>
            <a:pPr marL="0" indent="0" algn="l">
              <a:buNone/>
            </a:pPr>
            <a:endParaRPr lang="en-US" sz="4800" dirty="0"/>
          </a:p>
        </p:txBody>
      </p:sp>
      <p:sp>
        <p:nvSpPr>
          <p:cNvPr id="4" name="Text 1"/>
          <p:cNvSpPr>
            <a:spLocks noGrp="1"/>
          </p:cNvSpPr>
          <p:nvPr>
            <p:ph type="body" idx="102" hasCustomPrompt="1"/>
          </p:nvPr>
        </p:nvSpPr>
        <p:spPr>
          <a:xfrm>
            <a:off x="548640" y="1600200"/>
            <a:ext cx="7680960" cy="822960"/>
          </a:xfrm>
          <a:prstGeom prst="rect">
            <a:avLst/>
          </a:prstGeom>
          <a:noFill/>
          <a:ln/>
        </p:spPr>
        <p:txBody>
          <a:bodyPr wrap="square" rtlCol="0"/>
          <a:lstStyle>
            <a:lvl1pPr marL="0" indent="0" algn="l">
              <a:buNone/>
              <a:defRPr lang="en-US" sz="2000" dirty="0">
                <a:solidFill>
                  <a:schemeClr val="accent3"/>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
        <p:nvSpPr>
          <p:cNvPr id="3" name="Text 0"/>
          <p:cNvSpPr/>
          <p:nvPr/>
        </p:nvSpPr>
        <p:spPr>
          <a:xfrm>
            <a:off x="457200" y="4754880"/>
            <a:ext cx="2743200" cy="274320"/>
          </a:xfrm>
          <a:prstGeom prst="rect">
            <a:avLst/>
          </a:prstGeom>
          <a:noFill/>
          <a:ln/>
        </p:spPr>
        <p:txBody>
          <a:bodyPr wrap="square" lIns="0" tIns="0" rIns="0" bIns="0" rtlCol="0" anchor="ctr"/>
          <a:lstStyle/>
          <a:p>
            <a:pPr marL="0" indent="0">
              <a:buNone/>
            </a:pPr>
            <a:r>
              <a:rPr lang="en-US" sz="1000" dirty="0">
                <a:solidFill>
                  <a:schemeClr val="accent6"/>
                </a:solidFill>
              </a:rPr>
              <a:t>SPICE Solver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AU"/>
          </a:p>
        </p:txBody>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400" dirty="0">
                <a:solidFill>
                  <a:schemeClr val="bg1"/>
                </a:solidFill>
              </a:defRPr>
            </a:lvl1pPr>
          </a:lstStyle>
          <a:p>
            <a:pPr marL="0" indent="0" algn="l">
              <a:buNone/>
            </a:pPr>
            <a:endParaRPr lang="en-US" sz="3400" dirty="0"/>
          </a:p>
        </p:txBody>
      </p:sp>
      <p:sp>
        <p:nvSpPr>
          <p:cNvPr id="4" name="Text 1"/>
          <p:cNvSpPr/>
          <p:nvPr/>
        </p:nvSpPr>
        <p:spPr>
          <a:xfrm>
            <a:off x="457200" y="4754880"/>
            <a:ext cx="2743200" cy="274320"/>
          </a:xfrm>
          <a:prstGeom prst="rect">
            <a:avLst/>
          </a:prstGeom>
          <a:noFill/>
          <a:ln/>
        </p:spPr>
        <p:txBody>
          <a:bodyPr wrap="square" lIns="0" tIns="0" rIns="0" bIns="0" rtlCol="0" anchor="ctr"/>
          <a:lstStyle/>
          <a:p>
            <a:pPr marL="0" indent="0">
              <a:buNone/>
            </a:pPr>
            <a:r>
              <a:rPr lang="en-US" sz="1000" dirty="0">
                <a:solidFill>
                  <a:schemeClr val="bg2"/>
                </a:solidFill>
              </a:rPr>
              <a:t>SPICE Solver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640080"/>
            <a:ext cx="8046720" cy="914400"/>
          </a:xfrm>
          <a:prstGeom prst="rect">
            <a:avLst/>
          </a:prstGeom>
          <a:noFill/>
          <a:ln/>
        </p:spPr>
        <p:txBody>
          <a:bodyPr wrap="square" lIns="0" tIns="0" rIns="0" bIns="0" rtlCol="0" anchor="ctr"/>
          <a:lstStyle/>
          <a:p>
            <a:pPr marL="0" indent="0" algn="l">
              <a:buNone/>
            </a:pPr>
            <a:r>
              <a:rPr lang="en-US" sz="4800" dirty="0">
                <a:solidFill>
                  <a:schemeClr val="bg1"/>
                </a:solidFill>
              </a:rPr>
              <a:t>SPICE Solver</a:t>
            </a:r>
            <a:endParaRPr lang="en-US" sz="4800" dirty="0"/>
          </a:p>
        </p:txBody>
      </p:sp>
      <p:sp>
        <p:nvSpPr>
          <p:cNvPr id="3" name="Text 1"/>
          <p:cNvSpPr>
            <a:spLocks noGrp="1"/>
          </p:cNvSpPr>
          <p:nvPr>
            <p:ph type="body" idx="102" hasCustomPrompt="1"/>
          </p:nvPr>
        </p:nvSpPr>
        <p:spPr>
          <a:xfrm>
            <a:off x="548640" y="1600200"/>
            <a:ext cx="7680960" cy="822960"/>
          </a:xfrm>
          <a:prstGeom prst="rect">
            <a:avLst/>
          </a:prstGeom>
          <a:noFill/>
          <a:ln/>
        </p:spPr>
        <p:txBody>
          <a:bodyPr wrap="square" lIns="0" tIns="0" rIns="0" bIns="0" rtlCol="0" anchor="t"/>
          <a:lstStyle/>
          <a:p>
            <a:pPr marL="0" indent="0" algn="l">
              <a:buNone/>
            </a:pPr>
            <a:r>
              <a:rPr lang="en-US" sz="2000" dirty="0">
                <a:solidFill>
                  <a:schemeClr val="accent3"/>
                </a:solidFill>
              </a:rPr>
              <a:t>How a circuit simulator turns every circuit into one linear system</a:t>
            </a:r>
            <a:endParaRPr lang="en-US" sz="2000" dirty="0"/>
          </a:p>
        </p:txBody>
      </p:sp>
      <p:sp>
        <p:nvSpPr>
          <p:cNvPr id="4" name="Equation card"/>
          <p:cNvSpPr/>
          <p:nvPr/>
        </p:nvSpPr>
        <p:spPr>
          <a:xfrm>
            <a:off x="548640" y="2697480"/>
            <a:ext cx="8046720" cy="1508760"/>
          </a:xfrm>
          <a:prstGeom prst="rect">
            <a:avLst/>
          </a:prstGeom>
          <a:solidFill>
            <a:schemeClr val="tx2"/>
          </a:solidFill>
          <a:ln/>
        </p:spPr>
        <p:txBody>
          <a:bodyPr/>
          <a:lstStyle/>
          <a:p>
            <a:endParaRPr lang="en-AU"/>
          </a:p>
        </p:txBody>
      </p:sp>
      <p:sp>
        <p:nvSpPr>
          <p:cNvPr id="5" name="Hook equation"/>
          <p:cNvSpPr txBox="1"/>
          <p:nvPr/>
        </p:nvSpPr>
        <p:spPr>
          <a:xfrm>
            <a:off x="822960" y="2788920"/>
            <a:ext cx="3657600" cy="1325880"/>
          </a:xfrm>
          <a:prstGeom prst="rect">
            <a:avLst/>
          </a:prstGeom>
          <a:noFill/>
          <a:ln/>
        </p:spPr>
        <p:txBody>
          <a:bodyPr wrap="square" lIns="0" tIns="0" rIns="0" bIns="0" rtlCol="0" anchor="ctr"/>
          <a:lstStyle/>
          <a:p>
            <a:pPr marL="0" indent="0">
              <a:buNone/>
            </a:pPr>
            <a:r>
              <a:rPr lang="en-US" sz="5400" b="1" dirty="0">
                <a:solidFill>
                  <a:schemeClr val="accent4"/>
                </a:solidFill>
                <a:latin typeface="Courier New" pitchFamily="34" charset="0"/>
                <a:ea typeface="Courier New" pitchFamily="34" charset="-122"/>
                <a:cs typeface="Courier New" pitchFamily="34" charset="-120"/>
              </a:rPr>
              <a:t>G x = b</a:t>
            </a:r>
            <a:endParaRPr lang="en-US" sz="5400" dirty="0"/>
          </a:p>
        </p:txBody>
      </p:sp>
      <p:sp>
        <p:nvSpPr>
          <p:cNvPr id="6" name="Hook caption"/>
          <p:cNvSpPr txBox="1"/>
          <p:nvPr/>
        </p:nvSpPr>
        <p:spPr>
          <a:xfrm>
            <a:off x="4572000" y="2834640"/>
            <a:ext cx="3794760" cy="1234440"/>
          </a:xfrm>
          <a:prstGeom prst="rect">
            <a:avLst/>
          </a:prstGeom>
          <a:noFill/>
          <a:ln/>
        </p:spPr>
        <p:txBody>
          <a:bodyPr wrap="square" lIns="0" tIns="0" rIns="0" bIns="0" rtlCol="0" anchor="ctr"/>
          <a:lstStyle/>
          <a:p>
            <a:pPr marL="0" indent="0">
              <a:buNone/>
            </a:pPr>
            <a:r>
              <a:rPr lang="en-US" sz="1600" dirty="0">
                <a:solidFill>
                  <a:schemeClr val="bg1"/>
                </a:solidFill>
              </a:rPr>
              <a:t>Circuit simulators repeatedly solve a linear system like this one. Capacitors, diodes, transistors and time steps are all converted into this form.</a:t>
            </a:r>
            <a:endParaRPr lang="en-US" sz="1600" dirty="0"/>
          </a:p>
        </p:txBody>
      </p:sp>
      <p:sp>
        <p:nvSpPr>
          <p:cNvPr id="7" name="Text 5"/>
          <p:cNvSpPr txBox="1"/>
          <p:nvPr/>
        </p:nvSpPr>
        <p:spPr>
          <a:xfrm>
            <a:off x="548640" y="4434840"/>
            <a:ext cx="8046720" cy="274320"/>
          </a:xfrm>
          <a:prstGeom prst="rect">
            <a:avLst/>
          </a:prstGeom>
          <a:noFill/>
          <a:ln/>
        </p:spPr>
        <p:txBody>
          <a:bodyPr wrap="square" lIns="0" tIns="0" rIns="0" bIns="0" rtlCol="0" anchor="t"/>
          <a:lstStyle/>
          <a:p>
            <a:pPr marL="0" indent="0">
              <a:buNone/>
            </a:pPr>
            <a:r>
              <a:rPr lang="en-US" sz="1200" dirty="0">
                <a:solidFill>
                  <a:schemeClr val="bg2"/>
                </a:solidFill>
              </a:rPr>
              <a:t>Hudson Baker ENG192 A2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What we built</a:t>
            </a:r>
            <a:endParaRPr lang="en-US" sz="3400" dirty="0"/>
          </a:p>
        </p:txBody>
      </p:sp>
      <p:sp>
        <p:nvSpPr>
          <p:cNvPr id="4" name="Stat device types"/>
          <p:cNvSpPr txBox="1"/>
          <p:nvPr/>
        </p:nvSpPr>
        <p:spPr>
          <a:xfrm>
            <a:off x="457200" y="1280160"/>
            <a:ext cx="1920240" cy="1554480"/>
          </a:xfrm>
          <a:prstGeom prst="rect">
            <a:avLst/>
          </a:prstGeom>
          <a:solidFill>
            <a:schemeClr val="bg2"/>
          </a:solidFill>
          <a:ln/>
        </p:spPr>
        <p:txBody>
          <a:bodyPr wrap="square" lIns="76200" tIns="76200" rIns="76200" bIns="76200" rtlCol="0" anchor="ctr"/>
          <a:lstStyle/>
          <a:p>
            <a:pPr marL="0" indent="0" algn="ctr">
              <a:buNone/>
            </a:pPr>
            <a:r>
              <a:rPr lang="en-US" sz="3800" b="1" dirty="0">
                <a:solidFill>
                  <a:schemeClr val="accent1"/>
                </a:solidFill>
              </a:rPr>
              <a:t>8</a:t>
            </a:r>
            <a:endParaRPr lang="en-US" sz="3800" dirty="0"/>
          </a:p>
          <a:p>
            <a:pPr marL="0" indent="0" algn="ctr">
              <a:buNone/>
            </a:pPr>
            <a:r>
              <a:rPr lang="en-US" sz="1500" b="1" dirty="0">
                <a:solidFill>
                  <a:schemeClr val="tx1"/>
                </a:solidFill>
              </a:rPr>
              <a:t>device types</a:t>
            </a:r>
            <a:endParaRPr lang="en-US" sz="3800" dirty="0"/>
          </a:p>
          <a:p>
            <a:pPr marL="0" indent="0" algn="ctr">
              <a:buNone/>
            </a:pPr>
            <a:r>
              <a:rPr lang="en-US" sz="1200" dirty="0">
                <a:solidFill>
                  <a:schemeClr val="accent6"/>
                </a:solidFill>
              </a:rPr>
              <a:t>R  C  L  V  I  D  Q  M</a:t>
            </a:r>
            <a:endParaRPr lang="en-US" sz="3800" dirty="0"/>
          </a:p>
        </p:txBody>
      </p:sp>
      <p:sp>
        <p:nvSpPr>
          <p:cNvPr id="5" name="Stat analyses"/>
          <p:cNvSpPr txBox="1"/>
          <p:nvPr/>
        </p:nvSpPr>
        <p:spPr>
          <a:xfrm>
            <a:off x="2560320" y="1280160"/>
            <a:ext cx="1920240" cy="1554480"/>
          </a:xfrm>
          <a:prstGeom prst="rect">
            <a:avLst/>
          </a:prstGeom>
          <a:solidFill>
            <a:schemeClr val="bg2"/>
          </a:solidFill>
          <a:ln/>
        </p:spPr>
        <p:txBody>
          <a:bodyPr wrap="square" lIns="76200" tIns="76200" rIns="76200" bIns="76200" rtlCol="0" anchor="ctr"/>
          <a:lstStyle/>
          <a:p>
            <a:pPr marL="0" indent="0" algn="ctr">
              <a:buNone/>
            </a:pPr>
            <a:r>
              <a:rPr lang="en-US" sz="3800" b="1" dirty="0">
                <a:solidFill>
                  <a:schemeClr val="accent1"/>
                </a:solidFill>
              </a:rPr>
              <a:t>4</a:t>
            </a:r>
            <a:endParaRPr lang="en-US" sz="3800" dirty="0"/>
          </a:p>
          <a:p>
            <a:pPr marL="0" indent="0" algn="ctr">
              <a:buNone/>
            </a:pPr>
            <a:r>
              <a:rPr lang="en-US" sz="1500" b="1" dirty="0">
                <a:solidFill>
                  <a:schemeClr val="tx1"/>
                </a:solidFill>
              </a:rPr>
              <a:t>analyses</a:t>
            </a:r>
            <a:endParaRPr lang="en-US" sz="3800" dirty="0"/>
          </a:p>
          <a:p>
            <a:pPr marL="0" indent="0" algn="ctr">
              <a:buNone/>
            </a:pPr>
            <a:r>
              <a:rPr lang="en-US" sz="1200" dirty="0">
                <a:solidFill>
                  <a:schemeClr val="accent6"/>
                </a:solidFill>
              </a:rPr>
              <a:t>.op  .dc  .ac  .tran</a:t>
            </a:r>
            <a:endParaRPr lang="en-US" sz="3800" dirty="0"/>
          </a:p>
        </p:txBody>
      </p:sp>
      <p:sp>
        <p:nvSpPr>
          <p:cNvPr id="6" name="Stat automated tests"/>
          <p:cNvSpPr txBox="1"/>
          <p:nvPr/>
        </p:nvSpPr>
        <p:spPr>
          <a:xfrm>
            <a:off x="4663440" y="1280160"/>
            <a:ext cx="1920240" cy="1554480"/>
          </a:xfrm>
          <a:prstGeom prst="rect">
            <a:avLst/>
          </a:prstGeom>
          <a:solidFill>
            <a:schemeClr val="bg2"/>
          </a:solidFill>
          <a:ln/>
        </p:spPr>
        <p:txBody>
          <a:bodyPr wrap="square" lIns="76200" tIns="76200" rIns="76200" bIns="76200" rtlCol="0" anchor="ctr"/>
          <a:lstStyle/>
          <a:p>
            <a:pPr marL="0" indent="0" algn="ctr">
              <a:buNone/>
            </a:pPr>
            <a:r>
              <a:rPr lang="en-US" sz="3800" b="1" dirty="0">
                <a:solidFill>
                  <a:schemeClr val="accent1"/>
                </a:solidFill>
              </a:rPr>
              <a:t>28</a:t>
            </a:r>
            <a:endParaRPr lang="en-US" sz="3800" dirty="0"/>
          </a:p>
          <a:p>
            <a:pPr marL="0" indent="0" algn="ctr">
              <a:buNone/>
            </a:pPr>
            <a:r>
              <a:rPr lang="en-US" sz="1500" b="1" dirty="0">
                <a:solidFill>
                  <a:schemeClr val="tx1"/>
                </a:solidFill>
              </a:rPr>
              <a:t>automated tests</a:t>
            </a:r>
            <a:endParaRPr lang="en-US" sz="3800" dirty="0"/>
          </a:p>
          <a:p>
            <a:pPr marL="0" indent="0" algn="ctr">
              <a:buNone/>
            </a:pPr>
            <a:r>
              <a:rPr lang="en-US" sz="1200" dirty="0">
                <a:solidFill>
                  <a:schemeClr val="accent6"/>
                </a:solidFill>
              </a:rPr>
              <a:t>checked by hand</a:t>
            </a:r>
            <a:endParaRPr lang="en-US" sz="3800" dirty="0"/>
          </a:p>
        </p:txBody>
      </p:sp>
      <p:sp>
        <p:nvSpPr>
          <p:cNvPr id="7" name="Stat lines of Python"/>
          <p:cNvSpPr txBox="1"/>
          <p:nvPr/>
        </p:nvSpPr>
        <p:spPr>
          <a:xfrm>
            <a:off x="6766560" y="1280160"/>
            <a:ext cx="1920240" cy="1554480"/>
          </a:xfrm>
          <a:prstGeom prst="rect">
            <a:avLst/>
          </a:prstGeom>
          <a:solidFill>
            <a:schemeClr val="bg2"/>
          </a:solidFill>
          <a:ln/>
        </p:spPr>
        <p:txBody>
          <a:bodyPr wrap="square" lIns="76200" tIns="76200" rIns="76200" bIns="76200" rtlCol="0" anchor="ctr"/>
          <a:lstStyle/>
          <a:p>
            <a:pPr marL="0" indent="0" algn="ctr">
              <a:buNone/>
            </a:pPr>
            <a:r>
              <a:rPr lang="en-US" sz="3800" b="1" dirty="0">
                <a:solidFill>
                  <a:schemeClr val="accent1"/>
                </a:solidFill>
              </a:rPr>
              <a:t>3,788</a:t>
            </a:r>
            <a:endParaRPr lang="en-US" sz="3800" dirty="0"/>
          </a:p>
          <a:p>
            <a:pPr marL="0" indent="0" algn="ctr">
              <a:buNone/>
            </a:pPr>
            <a:r>
              <a:rPr lang="en-US" sz="1500" b="1" dirty="0">
                <a:solidFill>
                  <a:schemeClr val="tx1"/>
                </a:solidFill>
              </a:rPr>
              <a:t>lines of Python</a:t>
            </a:r>
            <a:endParaRPr lang="en-US" sz="3800" dirty="0"/>
          </a:p>
          <a:p>
            <a:pPr marL="0" indent="0" algn="ctr">
              <a:buNone/>
            </a:pPr>
            <a:r>
              <a:rPr lang="en-US" sz="1200" dirty="0">
                <a:solidFill>
                  <a:schemeClr val="accent6"/>
                </a:solidFill>
              </a:rPr>
              <a:t>Across 35 files</a:t>
            </a:r>
            <a:endParaRPr lang="en-US" sz="3800" dirty="0"/>
          </a:p>
        </p:txBody>
      </p:sp>
      <p:sp>
        <p:nvSpPr>
          <p:cNvPr id="8" name="Input card"/>
          <p:cNvSpPr/>
          <p:nvPr/>
        </p:nvSpPr>
        <p:spPr>
          <a:xfrm>
            <a:off x="457200" y="3154680"/>
            <a:ext cx="3566160" cy="1325880"/>
          </a:xfrm>
          <a:prstGeom prst="rect">
            <a:avLst/>
          </a:prstGeom>
          <a:solidFill>
            <a:schemeClr val="tx1"/>
          </a:solidFill>
          <a:ln/>
        </p:spPr>
        <p:txBody>
          <a:bodyPr/>
          <a:lstStyle/>
          <a:p>
            <a:endParaRPr lang="en-AU"/>
          </a:p>
        </p:txBody>
      </p:sp>
      <p:sp>
        <p:nvSpPr>
          <p:cNvPr id="9" name="Text 6"/>
          <p:cNvSpPr txBox="1"/>
          <p:nvPr/>
        </p:nvSpPr>
        <p:spPr>
          <a:xfrm>
            <a:off x="685800" y="3291840"/>
            <a:ext cx="3108960" cy="1051560"/>
          </a:xfrm>
          <a:prstGeom prst="rect">
            <a:avLst/>
          </a:prstGeom>
          <a:noFill/>
          <a:ln/>
        </p:spPr>
        <p:txBody>
          <a:bodyPr wrap="square" lIns="0" tIns="0" rIns="0" bIns="0" rtlCol="0" anchor="ctr"/>
          <a:lstStyle/>
          <a:p>
            <a:pPr marL="0" indent="0">
              <a:buNone/>
            </a:pPr>
            <a:r>
              <a:rPr lang="en-US" sz="1400" b="1" dirty="0">
                <a:solidFill>
                  <a:schemeClr val="accent3"/>
                </a:solidFill>
              </a:rPr>
              <a:t>Text netlist in</a:t>
            </a:r>
            <a:endParaRPr lang="en-US" sz="1400" dirty="0"/>
          </a:p>
          <a:p>
            <a:pPr marL="0" indent="0">
              <a:buNone/>
            </a:pPr>
            <a:r>
              <a:rPr lang="en-US" sz="1600" dirty="0">
                <a:solidFill>
                  <a:schemeClr val="bg1"/>
                </a:solidFill>
                <a:latin typeface="Courier New" pitchFamily="34" charset="0"/>
                <a:ea typeface="Courier New" pitchFamily="34" charset="-122"/>
                <a:cs typeface="Courier New" pitchFamily="34" charset="-120"/>
              </a:rPr>
              <a:t>R1 in out 1k</a:t>
            </a:r>
            <a:endParaRPr lang="en-US" sz="1400" dirty="0"/>
          </a:p>
          <a:p>
            <a:pPr marL="0" indent="0">
              <a:buNone/>
            </a:pPr>
            <a:r>
              <a:rPr lang="en-US" sz="1600" dirty="0">
                <a:solidFill>
                  <a:schemeClr val="bg1"/>
                </a:solidFill>
                <a:latin typeface="Courier New" pitchFamily="34" charset="0"/>
                <a:ea typeface="Courier New" pitchFamily="34" charset="-122"/>
                <a:cs typeface="Courier New" pitchFamily="34" charset="-120"/>
              </a:rPr>
              <a:t>C1 out 0 1u</a:t>
            </a:r>
            <a:endParaRPr lang="en-US" sz="1400" dirty="0"/>
          </a:p>
        </p:txBody>
      </p:sp>
      <p:sp>
        <p:nvSpPr>
          <p:cNvPr id="10" name="Arrow"/>
          <p:cNvSpPr/>
          <p:nvPr/>
        </p:nvSpPr>
        <p:spPr>
          <a:xfrm>
            <a:off x="4160520" y="3611880"/>
            <a:ext cx="822960" cy="502920"/>
          </a:xfrm>
          <a:prstGeom prst="rightArrow">
            <a:avLst/>
          </a:prstGeom>
          <a:solidFill>
            <a:schemeClr val="accent1"/>
          </a:solidFill>
          <a:ln/>
        </p:spPr>
        <p:txBody>
          <a:bodyPr/>
          <a:lstStyle/>
          <a:p>
            <a:endParaRPr lang="en-AU"/>
          </a:p>
        </p:txBody>
      </p:sp>
      <p:sp>
        <p:nvSpPr>
          <p:cNvPr id="11" name="Output card"/>
          <p:cNvSpPr/>
          <p:nvPr/>
        </p:nvSpPr>
        <p:spPr>
          <a:xfrm>
            <a:off x="5120640" y="3154680"/>
            <a:ext cx="3566160" cy="1325880"/>
          </a:xfrm>
          <a:prstGeom prst="rect">
            <a:avLst/>
          </a:prstGeom>
          <a:solidFill>
            <a:schemeClr val="bg2"/>
          </a:solidFill>
          <a:ln/>
        </p:spPr>
        <p:txBody>
          <a:bodyPr/>
          <a:lstStyle/>
          <a:p>
            <a:endParaRPr lang="en-AU"/>
          </a:p>
        </p:txBody>
      </p:sp>
      <p:sp>
        <p:nvSpPr>
          <p:cNvPr id="12" name="Text 9"/>
          <p:cNvSpPr txBox="1"/>
          <p:nvPr/>
        </p:nvSpPr>
        <p:spPr>
          <a:xfrm>
            <a:off x="5349240" y="3291840"/>
            <a:ext cx="3108960" cy="1051560"/>
          </a:xfrm>
          <a:prstGeom prst="rect">
            <a:avLst/>
          </a:prstGeom>
          <a:noFill/>
          <a:ln/>
        </p:spPr>
        <p:txBody>
          <a:bodyPr wrap="square" lIns="0" tIns="0" rIns="0" bIns="0" rtlCol="0" anchor="ctr"/>
          <a:lstStyle/>
          <a:p>
            <a:pPr marL="0" indent="0">
              <a:buNone/>
            </a:pPr>
            <a:r>
              <a:rPr lang="en-US" sz="1400" b="1" dirty="0">
                <a:solidFill>
                  <a:schemeClr val="accent6"/>
                </a:solidFill>
              </a:rPr>
              <a:t>Graphs and tables out</a:t>
            </a:r>
            <a:endParaRPr lang="en-US" sz="1400" dirty="0"/>
          </a:p>
          <a:p>
            <a:pPr marL="0" indent="0">
              <a:buNone/>
            </a:pPr>
            <a:r>
              <a:rPr lang="en-US" sz="1500" dirty="0">
                <a:solidFill>
                  <a:schemeClr val="tx1"/>
                </a:solidFill>
              </a:rPr>
              <a:t>Bode plots, waveforms, bias tables, CSV, in a desktop window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The pipeline: file to picture</a:t>
            </a:r>
            <a:endParaRPr lang="en-US" sz="3400" dirty="0"/>
          </a:p>
        </p:txBody>
      </p:sp>
      <p:sp>
        <p:nvSpPr>
          <p:cNvPr id="4" name="Stage Parse"/>
          <p:cNvSpPr/>
          <p:nvPr/>
        </p:nvSpPr>
        <p:spPr>
          <a:xfrm>
            <a:off x="457200" y="1417320"/>
            <a:ext cx="1005840" cy="2011680"/>
          </a:xfrm>
          <a:prstGeom prst="rect">
            <a:avLst/>
          </a:prstGeom>
          <a:solidFill>
            <a:schemeClr val="bg2"/>
          </a:solidFill>
          <a:ln/>
        </p:spPr>
        <p:txBody>
          <a:bodyPr/>
          <a:lstStyle/>
          <a:p>
            <a:endParaRPr lang="en-AU"/>
          </a:p>
        </p:txBody>
      </p:sp>
      <p:sp>
        <p:nvSpPr>
          <p:cNvPr id="5" name="Number 1"/>
          <p:cNvSpPr txBox="1"/>
          <p:nvPr/>
        </p:nvSpPr>
        <p:spPr>
          <a:xfrm>
            <a:off x="768096" y="1600200"/>
            <a:ext cx="384048" cy="384048"/>
          </a:xfrm>
          <a:prstGeom prst="rect">
            <a:avLst/>
          </a:prstGeom>
          <a:noFill/>
          <a:ln/>
        </p:spPr>
        <p:txBody>
          <a:bodyPr wrap="square" lIns="0" tIns="0" rIns="0" bIns="0" rtlCol="0" anchor="ctr"/>
          <a:lstStyle/>
          <a:p>
            <a:pPr marL="0" indent="0" algn="l">
              <a:buNone/>
            </a:pPr>
            <a:r>
              <a:rPr lang="en-US" sz="2200" dirty="0">
                <a:solidFill>
                  <a:schemeClr val="accent6"/>
                </a:solidFill>
                <a:latin typeface="Cambria" pitchFamily="34" charset="0"/>
                <a:ea typeface="Cambria" pitchFamily="34" charset="-122"/>
                <a:cs typeface="Cambria" pitchFamily="34" charset="-120"/>
              </a:rPr>
              <a:t>1</a:t>
            </a:r>
            <a:endParaRPr lang="en-US" sz="2200" dirty="0"/>
          </a:p>
        </p:txBody>
      </p:sp>
      <p:sp>
        <p:nvSpPr>
          <p:cNvPr id="6" name="Text 3"/>
          <p:cNvSpPr txBox="1"/>
          <p:nvPr/>
        </p:nvSpPr>
        <p:spPr>
          <a:xfrm>
            <a:off x="502920" y="2148840"/>
            <a:ext cx="914400" cy="365760"/>
          </a:xfrm>
          <a:prstGeom prst="rect">
            <a:avLst/>
          </a:prstGeom>
          <a:noFill/>
          <a:ln/>
        </p:spPr>
        <p:txBody>
          <a:bodyPr wrap="square" lIns="0" tIns="0" rIns="0" bIns="0" rtlCol="0" anchor="t"/>
          <a:lstStyle/>
          <a:p>
            <a:pPr marL="0" indent="0" algn="ctr">
              <a:buNone/>
            </a:pPr>
            <a:r>
              <a:rPr lang="en-US" sz="1500" b="1" dirty="0">
                <a:solidFill>
                  <a:schemeClr val="tx1"/>
                </a:solidFill>
              </a:rPr>
              <a:t>Parse</a:t>
            </a:r>
            <a:endParaRPr lang="en-US" sz="1500" dirty="0"/>
          </a:p>
        </p:txBody>
      </p:sp>
      <p:sp>
        <p:nvSpPr>
          <p:cNvPr id="7" name="Text 4"/>
          <p:cNvSpPr txBox="1"/>
          <p:nvPr/>
        </p:nvSpPr>
        <p:spPr>
          <a:xfrm>
            <a:off x="502920" y="2606040"/>
            <a:ext cx="914400" cy="640080"/>
          </a:xfrm>
          <a:prstGeom prst="rect">
            <a:avLst/>
          </a:prstGeom>
          <a:noFill/>
          <a:ln/>
        </p:spPr>
        <p:txBody>
          <a:bodyPr wrap="square" lIns="0" tIns="0" rIns="0" bIns="0" rtlCol="0" anchor="t"/>
          <a:lstStyle/>
          <a:p>
            <a:pPr marL="0" indent="0" algn="ctr">
              <a:buNone/>
            </a:pPr>
            <a:r>
              <a:rPr lang="en-US" sz="1200" dirty="0">
                <a:solidFill>
                  <a:schemeClr val="accent6"/>
                </a:solidFill>
              </a:rPr>
              <a:t>Netlist</a:t>
            </a:r>
            <a:endParaRPr lang="en-US" sz="1200" dirty="0"/>
          </a:p>
        </p:txBody>
      </p:sp>
      <p:sp>
        <p:nvSpPr>
          <p:cNvPr id="8" name="Arrow 1"/>
          <p:cNvSpPr/>
          <p:nvPr/>
        </p:nvSpPr>
        <p:spPr>
          <a:xfrm>
            <a:off x="1481328" y="2423160"/>
            <a:ext cx="164592" cy="0"/>
          </a:xfrm>
          <a:prstGeom prst="line">
            <a:avLst/>
          </a:prstGeom>
          <a:noFill/>
          <a:ln w="25400">
            <a:solidFill>
              <a:schemeClr val="accent1"/>
            </a:solidFill>
            <a:prstDash val="solid"/>
            <a:tailEnd type="triangle"/>
          </a:ln>
        </p:spPr>
        <p:txBody>
          <a:bodyPr/>
          <a:lstStyle/>
          <a:p>
            <a:endParaRPr lang="en-AU"/>
          </a:p>
        </p:txBody>
      </p:sp>
      <p:sp>
        <p:nvSpPr>
          <p:cNvPr id="9" name="Stage Flatten"/>
          <p:cNvSpPr/>
          <p:nvPr/>
        </p:nvSpPr>
        <p:spPr>
          <a:xfrm>
            <a:off x="1664208" y="1417320"/>
            <a:ext cx="1005840" cy="2011680"/>
          </a:xfrm>
          <a:prstGeom prst="rect">
            <a:avLst/>
          </a:prstGeom>
          <a:solidFill>
            <a:schemeClr val="bg2"/>
          </a:solidFill>
          <a:ln/>
        </p:spPr>
        <p:txBody>
          <a:bodyPr/>
          <a:lstStyle/>
          <a:p>
            <a:endParaRPr lang="en-AU"/>
          </a:p>
        </p:txBody>
      </p:sp>
      <p:sp>
        <p:nvSpPr>
          <p:cNvPr id="10" name="Number 2"/>
          <p:cNvSpPr txBox="1"/>
          <p:nvPr/>
        </p:nvSpPr>
        <p:spPr>
          <a:xfrm>
            <a:off x="1975104" y="1600200"/>
            <a:ext cx="384048" cy="384048"/>
          </a:xfrm>
          <a:prstGeom prst="rect">
            <a:avLst/>
          </a:prstGeom>
          <a:noFill/>
          <a:ln/>
        </p:spPr>
        <p:txBody>
          <a:bodyPr wrap="square" lIns="0" tIns="0" rIns="0" bIns="0" rtlCol="0" anchor="ctr"/>
          <a:lstStyle/>
          <a:p>
            <a:pPr marL="0" indent="0" algn="l">
              <a:buNone/>
            </a:pPr>
            <a:r>
              <a:rPr lang="en-US" sz="2200" dirty="0">
                <a:solidFill>
                  <a:schemeClr val="accent6"/>
                </a:solidFill>
                <a:latin typeface="Cambria" pitchFamily="34" charset="0"/>
                <a:ea typeface="Cambria" pitchFamily="34" charset="-122"/>
                <a:cs typeface="Cambria" pitchFamily="34" charset="-120"/>
              </a:rPr>
              <a:t>2</a:t>
            </a:r>
            <a:endParaRPr lang="en-US" sz="2200" dirty="0"/>
          </a:p>
        </p:txBody>
      </p:sp>
      <p:sp>
        <p:nvSpPr>
          <p:cNvPr id="11" name="Text 8"/>
          <p:cNvSpPr txBox="1"/>
          <p:nvPr/>
        </p:nvSpPr>
        <p:spPr>
          <a:xfrm>
            <a:off x="1709928" y="2148840"/>
            <a:ext cx="914400" cy="365760"/>
          </a:xfrm>
          <a:prstGeom prst="rect">
            <a:avLst/>
          </a:prstGeom>
          <a:noFill/>
          <a:ln/>
        </p:spPr>
        <p:txBody>
          <a:bodyPr wrap="square" lIns="0" tIns="0" rIns="0" bIns="0" rtlCol="0" anchor="t"/>
          <a:lstStyle/>
          <a:p>
            <a:pPr marL="0" indent="0" algn="ctr">
              <a:buNone/>
            </a:pPr>
            <a:r>
              <a:rPr lang="en-US" sz="1500" b="1" dirty="0">
                <a:solidFill>
                  <a:schemeClr val="tx1"/>
                </a:solidFill>
              </a:rPr>
              <a:t>Flatten</a:t>
            </a:r>
            <a:endParaRPr lang="en-US" sz="1500" dirty="0"/>
          </a:p>
        </p:txBody>
      </p:sp>
      <p:sp>
        <p:nvSpPr>
          <p:cNvPr id="12" name="Text 9"/>
          <p:cNvSpPr txBox="1"/>
          <p:nvPr/>
        </p:nvSpPr>
        <p:spPr>
          <a:xfrm>
            <a:off x="1709928" y="2606040"/>
            <a:ext cx="914400" cy="640080"/>
          </a:xfrm>
          <a:prstGeom prst="rect">
            <a:avLst/>
          </a:prstGeom>
          <a:noFill/>
          <a:ln/>
        </p:spPr>
        <p:txBody>
          <a:bodyPr wrap="square" lIns="0" tIns="0" rIns="0" bIns="0" rtlCol="0" anchor="t"/>
          <a:lstStyle/>
          <a:p>
            <a:pPr marL="0" indent="0" algn="ctr">
              <a:buNone/>
            </a:pPr>
            <a:r>
              <a:rPr lang="en-US" sz="1200" dirty="0">
                <a:solidFill>
                  <a:schemeClr val="accent6"/>
                </a:solidFill>
              </a:rPr>
              <a:t>flat parts</a:t>
            </a:r>
            <a:endParaRPr lang="en-US" sz="1200" dirty="0"/>
          </a:p>
        </p:txBody>
      </p:sp>
      <p:sp>
        <p:nvSpPr>
          <p:cNvPr id="13" name="Arrow 2"/>
          <p:cNvSpPr/>
          <p:nvPr/>
        </p:nvSpPr>
        <p:spPr>
          <a:xfrm>
            <a:off x="2688336" y="2423160"/>
            <a:ext cx="164592" cy="0"/>
          </a:xfrm>
          <a:prstGeom prst="line">
            <a:avLst/>
          </a:prstGeom>
          <a:noFill/>
          <a:ln w="25400">
            <a:solidFill>
              <a:schemeClr val="accent1"/>
            </a:solidFill>
            <a:prstDash val="solid"/>
            <a:tailEnd type="triangle"/>
          </a:ln>
        </p:spPr>
        <p:txBody>
          <a:bodyPr/>
          <a:lstStyle/>
          <a:p>
            <a:endParaRPr lang="en-AU"/>
          </a:p>
        </p:txBody>
      </p:sp>
      <p:sp>
        <p:nvSpPr>
          <p:cNvPr id="14" name="Stage Graph"/>
          <p:cNvSpPr/>
          <p:nvPr/>
        </p:nvSpPr>
        <p:spPr>
          <a:xfrm>
            <a:off x="2871216" y="1417320"/>
            <a:ext cx="1005840" cy="2011680"/>
          </a:xfrm>
          <a:prstGeom prst="rect">
            <a:avLst/>
          </a:prstGeom>
          <a:solidFill>
            <a:schemeClr val="bg2"/>
          </a:solidFill>
          <a:ln/>
        </p:spPr>
        <p:txBody>
          <a:bodyPr/>
          <a:lstStyle/>
          <a:p>
            <a:endParaRPr lang="en-AU"/>
          </a:p>
        </p:txBody>
      </p:sp>
      <p:sp>
        <p:nvSpPr>
          <p:cNvPr id="15" name="Number 3"/>
          <p:cNvSpPr txBox="1"/>
          <p:nvPr/>
        </p:nvSpPr>
        <p:spPr>
          <a:xfrm>
            <a:off x="3182112" y="1600200"/>
            <a:ext cx="384048" cy="384048"/>
          </a:xfrm>
          <a:prstGeom prst="rect">
            <a:avLst/>
          </a:prstGeom>
          <a:noFill/>
          <a:ln/>
        </p:spPr>
        <p:txBody>
          <a:bodyPr wrap="square" lIns="0" tIns="0" rIns="0" bIns="0" rtlCol="0" anchor="ctr"/>
          <a:lstStyle/>
          <a:p>
            <a:pPr marL="0" indent="0" algn="l">
              <a:buNone/>
            </a:pPr>
            <a:r>
              <a:rPr lang="en-US" sz="2200" dirty="0">
                <a:solidFill>
                  <a:schemeClr val="accent6"/>
                </a:solidFill>
                <a:latin typeface="Cambria" pitchFamily="34" charset="0"/>
                <a:ea typeface="Cambria" pitchFamily="34" charset="-122"/>
                <a:cs typeface="Cambria" pitchFamily="34" charset="-120"/>
              </a:rPr>
              <a:t>3</a:t>
            </a:r>
            <a:endParaRPr lang="en-US" sz="2200" dirty="0"/>
          </a:p>
        </p:txBody>
      </p:sp>
      <p:sp>
        <p:nvSpPr>
          <p:cNvPr id="16" name="Text 13"/>
          <p:cNvSpPr txBox="1"/>
          <p:nvPr/>
        </p:nvSpPr>
        <p:spPr>
          <a:xfrm>
            <a:off x="2916936" y="2148840"/>
            <a:ext cx="914400" cy="365760"/>
          </a:xfrm>
          <a:prstGeom prst="rect">
            <a:avLst/>
          </a:prstGeom>
          <a:noFill/>
          <a:ln/>
        </p:spPr>
        <p:txBody>
          <a:bodyPr wrap="square" lIns="0" tIns="0" rIns="0" bIns="0" rtlCol="0" anchor="t"/>
          <a:lstStyle/>
          <a:p>
            <a:pPr marL="0" indent="0" algn="ctr">
              <a:buNone/>
            </a:pPr>
            <a:r>
              <a:rPr lang="en-US" sz="1500" b="1" dirty="0">
                <a:solidFill>
                  <a:schemeClr val="tx1"/>
                </a:solidFill>
              </a:rPr>
              <a:t>Graph</a:t>
            </a:r>
            <a:endParaRPr lang="en-US" sz="1500" dirty="0"/>
          </a:p>
        </p:txBody>
      </p:sp>
      <p:sp>
        <p:nvSpPr>
          <p:cNvPr id="17" name="Text 14"/>
          <p:cNvSpPr txBox="1"/>
          <p:nvPr/>
        </p:nvSpPr>
        <p:spPr>
          <a:xfrm>
            <a:off x="2916936" y="2606040"/>
            <a:ext cx="914400" cy="640080"/>
          </a:xfrm>
          <a:prstGeom prst="rect">
            <a:avLst/>
          </a:prstGeom>
          <a:noFill/>
          <a:ln/>
        </p:spPr>
        <p:txBody>
          <a:bodyPr wrap="square" lIns="0" tIns="0" rIns="0" bIns="0" rtlCol="0" anchor="t"/>
          <a:lstStyle/>
          <a:p>
            <a:pPr marL="0" indent="0" algn="ctr">
              <a:buNone/>
            </a:pPr>
            <a:r>
              <a:rPr lang="en-US" sz="1200" dirty="0">
                <a:solidFill>
                  <a:schemeClr val="accent6"/>
                </a:solidFill>
              </a:rPr>
              <a:t>hypergraph</a:t>
            </a:r>
            <a:endParaRPr lang="en-US" sz="1200" dirty="0"/>
          </a:p>
        </p:txBody>
      </p:sp>
      <p:sp>
        <p:nvSpPr>
          <p:cNvPr id="18" name="Arrow 3"/>
          <p:cNvSpPr/>
          <p:nvPr/>
        </p:nvSpPr>
        <p:spPr>
          <a:xfrm>
            <a:off x="3895344" y="2423160"/>
            <a:ext cx="164592" cy="0"/>
          </a:xfrm>
          <a:prstGeom prst="line">
            <a:avLst/>
          </a:prstGeom>
          <a:noFill/>
          <a:ln w="25400">
            <a:solidFill>
              <a:schemeClr val="accent1"/>
            </a:solidFill>
            <a:prstDash val="solid"/>
            <a:tailEnd type="triangle"/>
          </a:ln>
        </p:spPr>
        <p:txBody>
          <a:bodyPr/>
          <a:lstStyle/>
          <a:p>
            <a:endParaRPr lang="en-AU"/>
          </a:p>
        </p:txBody>
      </p:sp>
      <p:sp>
        <p:nvSpPr>
          <p:cNvPr id="19" name="Stage Matrices"/>
          <p:cNvSpPr/>
          <p:nvPr/>
        </p:nvSpPr>
        <p:spPr>
          <a:xfrm>
            <a:off x="4078224" y="1417320"/>
            <a:ext cx="1005840" cy="2011680"/>
          </a:xfrm>
          <a:prstGeom prst="rect">
            <a:avLst/>
          </a:prstGeom>
          <a:solidFill>
            <a:schemeClr val="tx1"/>
          </a:solidFill>
          <a:ln/>
        </p:spPr>
        <p:txBody>
          <a:bodyPr/>
          <a:lstStyle/>
          <a:p>
            <a:endParaRPr lang="en-AU"/>
          </a:p>
        </p:txBody>
      </p:sp>
      <p:sp>
        <p:nvSpPr>
          <p:cNvPr id="20" name="Number 4"/>
          <p:cNvSpPr txBox="1"/>
          <p:nvPr/>
        </p:nvSpPr>
        <p:spPr>
          <a:xfrm>
            <a:off x="4389120" y="1600200"/>
            <a:ext cx="384048" cy="384048"/>
          </a:xfrm>
          <a:prstGeom prst="rect">
            <a:avLst/>
          </a:prstGeom>
          <a:noFill/>
          <a:ln/>
        </p:spPr>
        <p:txBody>
          <a:bodyPr wrap="square" lIns="0" tIns="0" rIns="0" bIns="0" rtlCol="0" anchor="ctr"/>
          <a:lstStyle/>
          <a:p>
            <a:pPr marL="0" indent="0" algn="l">
              <a:buNone/>
            </a:pPr>
            <a:r>
              <a:rPr lang="en-US" sz="2200" dirty="0">
                <a:solidFill>
                  <a:schemeClr val="accent3"/>
                </a:solidFill>
                <a:latin typeface="Cambria" pitchFamily="34" charset="0"/>
                <a:ea typeface="Cambria" pitchFamily="34" charset="-122"/>
                <a:cs typeface="Cambria" pitchFamily="34" charset="-120"/>
              </a:rPr>
              <a:t>4</a:t>
            </a:r>
            <a:endParaRPr lang="en-US" sz="2200" dirty="0"/>
          </a:p>
        </p:txBody>
      </p:sp>
      <p:sp>
        <p:nvSpPr>
          <p:cNvPr id="21" name="Text 18"/>
          <p:cNvSpPr txBox="1"/>
          <p:nvPr/>
        </p:nvSpPr>
        <p:spPr>
          <a:xfrm>
            <a:off x="4123944" y="2148840"/>
            <a:ext cx="914400" cy="365760"/>
          </a:xfrm>
          <a:prstGeom prst="rect">
            <a:avLst/>
          </a:prstGeom>
          <a:noFill/>
          <a:ln/>
        </p:spPr>
        <p:txBody>
          <a:bodyPr wrap="square" lIns="0" tIns="0" rIns="0" bIns="0" rtlCol="0" anchor="t"/>
          <a:lstStyle/>
          <a:p>
            <a:pPr marL="0" indent="0" algn="ctr">
              <a:buNone/>
            </a:pPr>
            <a:r>
              <a:rPr lang="en-US" sz="1500" b="1" dirty="0">
                <a:solidFill>
                  <a:schemeClr val="bg1"/>
                </a:solidFill>
              </a:rPr>
              <a:t>Matrices</a:t>
            </a:r>
            <a:endParaRPr lang="en-US" sz="1500" dirty="0"/>
          </a:p>
        </p:txBody>
      </p:sp>
      <p:sp>
        <p:nvSpPr>
          <p:cNvPr id="22" name="Text 19"/>
          <p:cNvSpPr txBox="1"/>
          <p:nvPr/>
        </p:nvSpPr>
        <p:spPr>
          <a:xfrm>
            <a:off x="4123944" y="2606040"/>
            <a:ext cx="914400" cy="640080"/>
          </a:xfrm>
          <a:prstGeom prst="rect">
            <a:avLst/>
          </a:prstGeom>
          <a:noFill/>
          <a:ln/>
        </p:spPr>
        <p:txBody>
          <a:bodyPr wrap="square" lIns="0" tIns="0" rIns="0" bIns="0" rtlCol="0" anchor="t"/>
          <a:lstStyle/>
          <a:p>
            <a:pPr marL="0" indent="0" algn="ctr">
              <a:buNone/>
            </a:pPr>
            <a:r>
              <a:rPr lang="en-US" sz="1200" dirty="0">
                <a:solidFill>
                  <a:schemeClr val="accent3"/>
                </a:solidFill>
              </a:rPr>
              <a:t>G, C, b(t)</a:t>
            </a:r>
            <a:endParaRPr lang="en-US" sz="1200" dirty="0"/>
          </a:p>
        </p:txBody>
      </p:sp>
      <p:sp>
        <p:nvSpPr>
          <p:cNvPr id="23" name="Arrow 4"/>
          <p:cNvSpPr/>
          <p:nvPr/>
        </p:nvSpPr>
        <p:spPr>
          <a:xfrm>
            <a:off x="5102352" y="2423160"/>
            <a:ext cx="164592" cy="0"/>
          </a:xfrm>
          <a:prstGeom prst="line">
            <a:avLst/>
          </a:prstGeom>
          <a:noFill/>
          <a:ln w="25400">
            <a:solidFill>
              <a:schemeClr val="accent1"/>
            </a:solidFill>
            <a:prstDash val="solid"/>
            <a:tailEnd type="triangle"/>
          </a:ln>
        </p:spPr>
        <p:txBody>
          <a:bodyPr/>
          <a:lstStyle/>
          <a:p>
            <a:endParaRPr lang="en-AU"/>
          </a:p>
        </p:txBody>
      </p:sp>
      <p:sp>
        <p:nvSpPr>
          <p:cNvPr id="24" name="Stage Solve"/>
          <p:cNvSpPr/>
          <p:nvPr/>
        </p:nvSpPr>
        <p:spPr>
          <a:xfrm>
            <a:off x="5285232" y="1417320"/>
            <a:ext cx="1005840" cy="2011680"/>
          </a:xfrm>
          <a:prstGeom prst="rect">
            <a:avLst/>
          </a:prstGeom>
          <a:solidFill>
            <a:schemeClr val="tx1"/>
          </a:solidFill>
          <a:ln/>
        </p:spPr>
        <p:txBody>
          <a:bodyPr/>
          <a:lstStyle/>
          <a:p>
            <a:endParaRPr lang="en-AU"/>
          </a:p>
        </p:txBody>
      </p:sp>
      <p:sp>
        <p:nvSpPr>
          <p:cNvPr id="25" name="Number 5"/>
          <p:cNvSpPr txBox="1"/>
          <p:nvPr/>
        </p:nvSpPr>
        <p:spPr>
          <a:xfrm>
            <a:off x="5596128" y="1600200"/>
            <a:ext cx="384048" cy="384048"/>
          </a:xfrm>
          <a:prstGeom prst="rect">
            <a:avLst/>
          </a:prstGeom>
          <a:noFill/>
          <a:ln/>
        </p:spPr>
        <p:txBody>
          <a:bodyPr wrap="square" lIns="0" tIns="0" rIns="0" bIns="0" rtlCol="0" anchor="ctr"/>
          <a:lstStyle/>
          <a:p>
            <a:pPr marL="0" indent="0" algn="l">
              <a:buNone/>
            </a:pPr>
            <a:r>
              <a:rPr lang="en-US" sz="2200" dirty="0">
                <a:solidFill>
                  <a:schemeClr val="accent3"/>
                </a:solidFill>
                <a:latin typeface="Cambria" pitchFamily="34" charset="0"/>
                <a:ea typeface="Cambria" pitchFamily="34" charset="-122"/>
                <a:cs typeface="Cambria" pitchFamily="34" charset="-120"/>
              </a:rPr>
              <a:t>5</a:t>
            </a:r>
            <a:endParaRPr lang="en-US" sz="2200" dirty="0"/>
          </a:p>
        </p:txBody>
      </p:sp>
      <p:sp>
        <p:nvSpPr>
          <p:cNvPr id="26" name="Text 23"/>
          <p:cNvSpPr txBox="1"/>
          <p:nvPr/>
        </p:nvSpPr>
        <p:spPr>
          <a:xfrm>
            <a:off x="5330952" y="2148840"/>
            <a:ext cx="914400" cy="365760"/>
          </a:xfrm>
          <a:prstGeom prst="rect">
            <a:avLst/>
          </a:prstGeom>
          <a:noFill/>
          <a:ln/>
        </p:spPr>
        <p:txBody>
          <a:bodyPr wrap="square" lIns="0" tIns="0" rIns="0" bIns="0" rtlCol="0" anchor="t"/>
          <a:lstStyle/>
          <a:p>
            <a:pPr marL="0" indent="0" algn="ctr">
              <a:buNone/>
            </a:pPr>
            <a:r>
              <a:rPr lang="en-US" sz="1500" b="1" dirty="0">
                <a:solidFill>
                  <a:schemeClr val="bg1"/>
                </a:solidFill>
              </a:rPr>
              <a:t>Solve</a:t>
            </a:r>
            <a:endParaRPr lang="en-US" sz="1500" dirty="0"/>
          </a:p>
        </p:txBody>
      </p:sp>
      <p:sp>
        <p:nvSpPr>
          <p:cNvPr id="27" name="Text 24"/>
          <p:cNvSpPr txBox="1"/>
          <p:nvPr/>
        </p:nvSpPr>
        <p:spPr>
          <a:xfrm>
            <a:off x="5330952" y="2606040"/>
            <a:ext cx="914400" cy="640080"/>
          </a:xfrm>
          <a:prstGeom prst="rect">
            <a:avLst/>
          </a:prstGeom>
          <a:noFill/>
          <a:ln/>
        </p:spPr>
        <p:txBody>
          <a:bodyPr wrap="square" lIns="0" tIns="0" rIns="0" bIns="0" rtlCol="0" anchor="t"/>
          <a:lstStyle/>
          <a:p>
            <a:pPr marL="0" indent="0" algn="ctr">
              <a:buNone/>
            </a:pPr>
            <a:r>
              <a:rPr lang="en-US" sz="1200" dirty="0">
                <a:solidFill>
                  <a:schemeClr val="accent3"/>
                </a:solidFill>
              </a:rPr>
              <a:t>numbers</a:t>
            </a:r>
            <a:endParaRPr lang="en-US" sz="1200" dirty="0"/>
          </a:p>
        </p:txBody>
      </p:sp>
      <p:sp>
        <p:nvSpPr>
          <p:cNvPr id="28" name="Arrow 5"/>
          <p:cNvSpPr/>
          <p:nvPr/>
        </p:nvSpPr>
        <p:spPr>
          <a:xfrm>
            <a:off x="6309360" y="2423160"/>
            <a:ext cx="164592" cy="0"/>
          </a:xfrm>
          <a:prstGeom prst="line">
            <a:avLst/>
          </a:prstGeom>
          <a:noFill/>
          <a:ln w="25400">
            <a:solidFill>
              <a:schemeClr val="accent1"/>
            </a:solidFill>
            <a:prstDash val="solid"/>
            <a:tailEnd type="triangle"/>
          </a:ln>
        </p:spPr>
        <p:txBody>
          <a:bodyPr/>
          <a:lstStyle/>
          <a:p>
            <a:endParaRPr lang="en-AU"/>
          </a:p>
        </p:txBody>
      </p:sp>
      <p:sp>
        <p:nvSpPr>
          <p:cNvPr id="29" name="Stage Probe"/>
          <p:cNvSpPr/>
          <p:nvPr/>
        </p:nvSpPr>
        <p:spPr>
          <a:xfrm>
            <a:off x="6492240" y="1417320"/>
            <a:ext cx="1005840" cy="2011680"/>
          </a:xfrm>
          <a:prstGeom prst="rect">
            <a:avLst/>
          </a:prstGeom>
          <a:solidFill>
            <a:schemeClr val="bg2"/>
          </a:solidFill>
          <a:ln/>
        </p:spPr>
        <p:txBody>
          <a:bodyPr/>
          <a:lstStyle/>
          <a:p>
            <a:endParaRPr lang="en-AU"/>
          </a:p>
        </p:txBody>
      </p:sp>
      <p:sp>
        <p:nvSpPr>
          <p:cNvPr id="30" name="Number 6"/>
          <p:cNvSpPr txBox="1"/>
          <p:nvPr/>
        </p:nvSpPr>
        <p:spPr>
          <a:xfrm>
            <a:off x="6803136" y="1600200"/>
            <a:ext cx="384048" cy="384048"/>
          </a:xfrm>
          <a:prstGeom prst="rect">
            <a:avLst/>
          </a:prstGeom>
          <a:noFill/>
          <a:ln/>
        </p:spPr>
        <p:txBody>
          <a:bodyPr wrap="square" lIns="0" tIns="0" rIns="0" bIns="0" rtlCol="0" anchor="ctr"/>
          <a:lstStyle/>
          <a:p>
            <a:pPr marL="0" indent="0" algn="l">
              <a:buNone/>
            </a:pPr>
            <a:r>
              <a:rPr lang="en-US" sz="2200" dirty="0">
                <a:solidFill>
                  <a:schemeClr val="accent6"/>
                </a:solidFill>
                <a:latin typeface="Cambria" pitchFamily="34" charset="0"/>
                <a:ea typeface="Cambria" pitchFamily="34" charset="-122"/>
                <a:cs typeface="Cambria" pitchFamily="34" charset="-120"/>
              </a:rPr>
              <a:t>6</a:t>
            </a:r>
            <a:endParaRPr lang="en-US" sz="2200" dirty="0"/>
          </a:p>
        </p:txBody>
      </p:sp>
      <p:sp>
        <p:nvSpPr>
          <p:cNvPr id="31" name="Text 28"/>
          <p:cNvSpPr txBox="1"/>
          <p:nvPr/>
        </p:nvSpPr>
        <p:spPr>
          <a:xfrm>
            <a:off x="6537960" y="2148840"/>
            <a:ext cx="914400" cy="365760"/>
          </a:xfrm>
          <a:prstGeom prst="rect">
            <a:avLst/>
          </a:prstGeom>
          <a:noFill/>
          <a:ln/>
        </p:spPr>
        <p:txBody>
          <a:bodyPr wrap="square" lIns="0" tIns="0" rIns="0" bIns="0" rtlCol="0" anchor="t"/>
          <a:lstStyle/>
          <a:p>
            <a:pPr marL="0" indent="0" algn="ctr">
              <a:buNone/>
            </a:pPr>
            <a:r>
              <a:rPr lang="en-US" sz="1500" b="1" dirty="0">
                <a:solidFill>
                  <a:schemeClr val="tx1"/>
                </a:solidFill>
              </a:rPr>
              <a:t>Probe</a:t>
            </a:r>
            <a:endParaRPr lang="en-US" sz="1500" dirty="0"/>
          </a:p>
        </p:txBody>
      </p:sp>
      <p:sp>
        <p:nvSpPr>
          <p:cNvPr id="32" name="Text 29"/>
          <p:cNvSpPr txBox="1"/>
          <p:nvPr/>
        </p:nvSpPr>
        <p:spPr>
          <a:xfrm>
            <a:off x="6537960" y="2606040"/>
            <a:ext cx="914400" cy="640080"/>
          </a:xfrm>
          <a:prstGeom prst="rect">
            <a:avLst/>
          </a:prstGeom>
          <a:noFill/>
          <a:ln/>
        </p:spPr>
        <p:txBody>
          <a:bodyPr wrap="square" lIns="0" tIns="0" rIns="0" bIns="0" rtlCol="0" anchor="t"/>
          <a:lstStyle/>
          <a:p>
            <a:pPr marL="0" indent="0" algn="ctr">
              <a:buNone/>
            </a:pPr>
            <a:r>
              <a:rPr lang="en-US" sz="1200" dirty="0">
                <a:solidFill>
                  <a:schemeClr val="accent6"/>
                </a:solidFill>
              </a:rPr>
              <a:t>Solution</a:t>
            </a:r>
            <a:endParaRPr lang="en-US" sz="1200" dirty="0"/>
          </a:p>
        </p:txBody>
      </p:sp>
      <p:sp>
        <p:nvSpPr>
          <p:cNvPr id="33" name="Arrow 6"/>
          <p:cNvSpPr/>
          <p:nvPr/>
        </p:nvSpPr>
        <p:spPr>
          <a:xfrm>
            <a:off x="7516368" y="2423160"/>
            <a:ext cx="164592" cy="0"/>
          </a:xfrm>
          <a:prstGeom prst="line">
            <a:avLst/>
          </a:prstGeom>
          <a:noFill/>
          <a:ln w="25400">
            <a:solidFill>
              <a:schemeClr val="accent1"/>
            </a:solidFill>
            <a:prstDash val="solid"/>
            <a:tailEnd type="triangle"/>
          </a:ln>
        </p:spPr>
        <p:txBody>
          <a:bodyPr/>
          <a:lstStyle/>
          <a:p>
            <a:endParaRPr lang="en-AU"/>
          </a:p>
        </p:txBody>
      </p:sp>
      <p:sp>
        <p:nvSpPr>
          <p:cNvPr id="34" name="Stage Show"/>
          <p:cNvSpPr/>
          <p:nvPr/>
        </p:nvSpPr>
        <p:spPr>
          <a:xfrm>
            <a:off x="7699248" y="1417320"/>
            <a:ext cx="1005840" cy="2011680"/>
          </a:xfrm>
          <a:prstGeom prst="rect">
            <a:avLst/>
          </a:prstGeom>
          <a:solidFill>
            <a:schemeClr val="bg2"/>
          </a:solidFill>
          <a:ln/>
        </p:spPr>
        <p:txBody>
          <a:bodyPr/>
          <a:lstStyle/>
          <a:p>
            <a:endParaRPr lang="en-AU"/>
          </a:p>
        </p:txBody>
      </p:sp>
      <p:sp>
        <p:nvSpPr>
          <p:cNvPr id="35" name="Number 7"/>
          <p:cNvSpPr txBox="1"/>
          <p:nvPr/>
        </p:nvSpPr>
        <p:spPr>
          <a:xfrm>
            <a:off x="8010144" y="1600200"/>
            <a:ext cx="384048" cy="384048"/>
          </a:xfrm>
          <a:prstGeom prst="rect">
            <a:avLst/>
          </a:prstGeom>
          <a:noFill/>
          <a:ln/>
        </p:spPr>
        <p:txBody>
          <a:bodyPr wrap="square" lIns="0" tIns="0" rIns="0" bIns="0" rtlCol="0" anchor="ctr"/>
          <a:lstStyle/>
          <a:p>
            <a:pPr marL="0" indent="0" algn="l">
              <a:buNone/>
            </a:pPr>
            <a:r>
              <a:rPr lang="en-US" sz="2200" dirty="0">
                <a:solidFill>
                  <a:schemeClr val="accent6"/>
                </a:solidFill>
                <a:latin typeface="Cambria" pitchFamily="34" charset="0"/>
                <a:ea typeface="Cambria" pitchFamily="34" charset="-122"/>
                <a:cs typeface="Cambria" pitchFamily="34" charset="-120"/>
              </a:rPr>
              <a:t>7</a:t>
            </a:r>
            <a:endParaRPr lang="en-US" sz="2200" dirty="0"/>
          </a:p>
        </p:txBody>
      </p:sp>
      <p:sp>
        <p:nvSpPr>
          <p:cNvPr id="36" name="Text 33"/>
          <p:cNvSpPr txBox="1"/>
          <p:nvPr/>
        </p:nvSpPr>
        <p:spPr>
          <a:xfrm>
            <a:off x="7744968" y="2148840"/>
            <a:ext cx="914400" cy="365760"/>
          </a:xfrm>
          <a:prstGeom prst="rect">
            <a:avLst/>
          </a:prstGeom>
          <a:noFill/>
          <a:ln/>
        </p:spPr>
        <p:txBody>
          <a:bodyPr wrap="square" lIns="0" tIns="0" rIns="0" bIns="0" rtlCol="0" anchor="t"/>
          <a:lstStyle/>
          <a:p>
            <a:pPr marL="0" indent="0" algn="ctr">
              <a:buNone/>
            </a:pPr>
            <a:r>
              <a:rPr lang="en-US" sz="1500" b="1" dirty="0">
                <a:solidFill>
                  <a:schemeClr val="tx1"/>
                </a:solidFill>
              </a:rPr>
              <a:t>Show</a:t>
            </a:r>
            <a:endParaRPr lang="en-US" sz="1500" dirty="0"/>
          </a:p>
        </p:txBody>
      </p:sp>
      <p:sp>
        <p:nvSpPr>
          <p:cNvPr id="37" name="Text 34"/>
          <p:cNvSpPr txBox="1"/>
          <p:nvPr/>
        </p:nvSpPr>
        <p:spPr>
          <a:xfrm>
            <a:off x="7744968" y="2606040"/>
            <a:ext cx="914400" cy="640080"/>
          </a:xfrm>
          <a:prstGeom prst="rect">
            <a:avLst/>
          </a:prstGeom>
          <a:noFill/>
          <a:ln/>
        </p:spPr>
        <p:txBody>
          <a:bodyPr wrap="square" lIns="0" tIns="0" rIns="0" bIns="0" rtlCol="0" anchor="t"/>
          <a:lstStyle/>
          <a:p>
            <a:pPr marL="0" indent="0" algn="ctr">
              <a:buNone/>
            </a:pPr>
            <a:r>
              <a:rPr lang="en-US" sz="1200" dirty="0">
                <a:solidFill>
                  <a:schemeClr val="accent6"/>
                </a:solidFill>
              </a:rPr>
              <a:t>plots, CSV</a:t>
            </a:r>
            <a:endParaRPr lang="en-US" sz="1200" dirty="0"/>
          </a:p>
        </p:txBody>
      </p:sp>
      <p:sp>
        <p:nvSpPr>
          <p:cNvPr id="38" name="Pipeline callout"/>
          <p:cNvSpPr/>
          <p:nvPr/>
        </p:nvSpPr>
        <p:spPr>
          <a:xfrm>
            <a:off x="457200" y="3749040"/>
            <a:ext cx="8229600" cy="731520"/>
          </a:xfrm>
          <a:prstGeom prst="rect">
            <a:avLst/>
          </a:prstGeom>
          <a:solidFill>
            <a:schemeClr val="bg2"/>
          </a:solidFill>
          <a:ln/>
        </p:spPr>
        <p:txBody>
          <a:bodyPr/>
          <a:lstStyle/>
          <a:p>
            <a:endParaRPr lang="en-AU"/>
          </a:p>
        </p:txBody>
      </p:sp>
      <p:sp>
        <p:nvSpPr>
          <p:cNvPr id="39" name="Text 36"/>
          <p:cNvSpPr txBox="1"/>
          <p:nvPr/>
        </p:nvSpPr>
        <p:spPr>
          <a:xfrm>
            <a:off x="685800" y="3749040"/>
            <a:ext cx="7772400" cy="731520"/>
          </a:xfrm>
          <a:prstGeom prst="rect">
            <a:avLst/>
          </a:prstGeom>
          <a:noFill/>
          <a:ln/>
        </p:spPr>
        <p:txBody>
          <a:bodyPr wrap="square" lIns="0" tIns="0" rIns="0" bIns="0" rtlCol="0" anchor="ctr"/>
          <a:lstStyle/>
          <a:p>
            <a:pPr marL="0" indent="0">
              <a:buNone/>
            </a:pPr>
            <a:r>
              <a:rPr lang="en-US" sz="1500" b="1" dirty="0">
                <a:solidFill>
                  <a:schemeClr val="tx1"/>
                </a:solidFill>
              </a:rPr>
              <a:t>Each arrow is a plain data structure. </a:t>
            </a:r>
            <a:r>
              <a:rPr lang="en-US" sz="1500" dirty="0">
                <a:solidFill>
                  <a:schemeClr val="tx1"/>
                </a:solidFill>
              </a:rPr>
              <a:t>Most of this talk covers stages 4 and 5.</a:t>
            </a:r>
            <a:endParaRPr lang="en-US" sz="15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The file structure</a:t>
            </a:r>
            <a:endParaRPr lang="en-US" sz="3400" dirty="0"/>
          </a:p>
        </p:txBody>
      </p:sp>
      <p:sp>
        <p:nvSpPr>
          <p:cNvPr id="4" name="Code card"/>
          <p:cNvSpPr/>
          <p:nvPr/>
        </p:nvSpPr>
        <p:spPr>
          <a:xfrm>
            <a:off x="457200" y="1234440"/>
            <a:ext cx="4572000" cy="3246120"/>
          </a:xfrm>
          <a:prstGeom prst="rect">
            <a:avLst/>
          </a:prstGeom>
          <a:solidFill>
            <a:schemeClr val="tx1"/>
          </a:solidFill>
          <a:ln/>
        </p:spPr>
        <p:txBody>
          <a:bodyPr/>
          <a:lstStyle/>
          <a:p>
            <a:endParaRPr lang="en-AU"/>
          </a:p>
        </p:txBody>
      </p:sp>
      <p:sp>
        <p:nvSpPr>
          <p:cNvPr id="5" name="Text 2"/>
          <p:cNvSpPr txBox="1"/>
          <p:nvPr/>
        </p:nvSpPr>
        <p:spPr>
          <a:xfrm>
            <a:off x="640080" y="1371600"/>
            <a:ext cx="4297680" cy="2971800"/>
          </a:xfrm>
          <a:prstGeom prst="rect">
            <a:avLst/>
          </a:prstGeom>
          <a:noFill/>
          <a:ln/>
        </p:spPr>
        <p:txBody>
          <a:bodyPr wrap="square" lIns="0" tIns="0" rIns="0" bIns="0" rtlCol="0" anchor="ctr"/>
          <a:lstStyle/>
          <a:p>
            <a:pPr marL="0" indent="0">
              <a:spcAft>
                <a:spcPts val="800"/>
              </a:spcAft>
              <a:buNone/>
            </a:pPr>
            <a:r>
              <a:rPr lang="en-US" sz="1100" dirty="0">
                <a:solidFill>
                  <a:schemeClr val="accent6"/>
                </a:solidFill>
                <a:latin typeface="Courier New" pitchFamily="34" charset="0"/>
                <a:ea typeface="Courier New" pitchFamily="34" charset="-122"/>
                <a:cs typeface="Courier New" pitchFamily="34" charset="-120"/>
              </a:rPr>
              <a:t>RC low-pass</a:t>
            </a:r>
            <a:r>
              <a:rPr lang="en-US" sz="1000" dirty="0">
                <a:solidFill>
                  <a:schemeClr val="accent3"/>
                </a:solidFill>
                <a:latin typeface="Courier New" pitchFamily="34" charset="0"/>
                <a:ea typeface="Courier New" pitchFamily="34" charset="-122"/>
                <a:cs typeface="Courier New" pitchFamily="34" charset="-120"/>
              </a:rPr>
              <a:t>   &lt;- title line</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V1 in 0 DC 0 AC 1 PULSE(0 1 0 1n 1n 1 2)</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R1 in out 1k</a:t>
            </a:r>
            <a:endParaRPr lang="en-US" sz="1100" dirty="0"/>
          </a:p>
          <a:p>
            <a:pPr marL="0" indent="0">
              <a:spcAft>
                <a:spcPts val="800"/>
              </a:spcAft>
              <a:buNone/>
            </a:pPr>
            <a:r>
              <a:rPr lang="en-US" sz="1100" dirty="0">
                <a:solidFill>
                  <a:schemeClr val="bg1"/>
                </a:solidFill>
                <a:latin typeface="Courier New" pitchFamily="34" charset="0"/>
                <a:ea typeface="Courier New" pitchFamily="34" charset="-122"/>
                <a:cs typeface="Courier New" pitchFamily="34" charset="-120"/>
              </a:rPr>
              <a:t>C1 out 0 1u</a:t>
            </a:r>
            <a:endParaRPr lang="en-US" sz="1100" dirty="0"/>
          </a:p>
          <a:p>
            <a:pPr marL="0" indent="0">
              <a:spcAft>
                <a:spcPts val="800"/>
              </a:spcAft>
              <a:buNone/>
            </a:pPr>
            <a:r>
              <a:rPr lang="en-US" sz="1100" dirty="0">
                <a:solidFill>
                  <a:schemeClr val="accent4"/>
                </a:solidFill>
                <a:latin typeface="Courier New" pitchFamily="34" charset="0"/>
                <a:ea typeface="Courier New" pitchFamily="34" charset="-122"/>
                <a:cs typeface="Courier New" pitchFamily="34" charset="-120"/>
              </a:rPr>
              <a:t>.ac dec 2 10 100k</a:t>
            </a:r>
            <a:r>
              <a:rPr lang="en-US" sz="1000" dirty="0">
                <a:solidFill>
                  <a:schemeClr val="accent3"/>
                </a:solidFill>
                <a:latin typeface="Courier New" pitchFamily="34" charset="0"/>
                <a:ea typeface="Courier New" pitchFamily="34" charset="-122"/>
                <a:cs typeface="Courier New" pitchFamily="34" charset="-120"/>
              </a:rPr>
              <a:t>   &lt;- instruction</a:t>
            </a:r>
            <a:endParaRPr lang="en-US" sz="1100" dirty="0"/>
          </a:p>
          <a:p>
            <a:pPr marL="0" indent="0">
              <a:spcAft>
                <a:spcPts val="800"/>
              </a:spcAft>
              <a:buNone/>
            </a:pPr>
            <a:r>
              <a:rPr lang="en-US" sz="1100" dirty="0">
                <a:solidFill>
                  <a:schemeClr val="accent4"/>
                </a:solidFill>
                <a:latin typeface="Courier New" pitchFamily="34" charset="0"/>
                <a:ea typeface="Courier New" pitchFamily="34" charset="-122"/>
                <a:cs typeface="Courier New" pitchFamily="34" charset="-120"/>
              </a:rPr>
              <a:t>.tran 100u 3m</a:t>
            </a:r>
            <a:endParaRPr lang="en-US" sz="1100" dirty="0"/>
          </a:p>
          <a:p>
            <a:pPr marL="0" indent="0">
              <a:spcAft>
                <a:spcPts val="800"/>
              </a:spcAft>
              <a:buNone/>
            </a:pPr>
            <a:r>
              <a:rPr lang="en-US" sz="1100" dirty="0">
                <a:solidFill>
                  <a:schemeClr val="accent4"/>
                </a:solidFill>
                <a:latin typeface="Courier New" pitchFamily="34" charset="0"/>
                <a:ea typeface="Courier New" pitchFamily="34" charset="-122"/>
                <a:cs typeface="Courier New" pitchFamily="34" charset="-120"/>
              </a:rPr>
              <a:t>.print ac vdb(out) vp(out)</a:t>
            </a:r>
            <a:endParaRPr lang="en-US" sz="1100" dirty="0"/>
          </a:p>
        </p:txBody>
      </p:sp>
      <p:sp>
        <p:nvSpPr>
          <p:cNvPr id="6" name="Row 1"/>
          <p:cNvSpPr/>
          <p:nvPr/>
        </p:nvSpPr>
        <p:spPr>
          <a:xfrm>
            <a:off x="5257800" y="1234440"/>
            <a:ext cx="3429000" cy="731520"/>
          </a:xfrm>
          <a:prstGeom prst="rect">
            <a:avLst/>
          </a:prstGeom>
          <a:solidFill>
            <a:schemeClr val="bg2"/>
          </a:solidFill>
          <a:ln/>
        </p:spPr>
        <p:txBody>
          <a:bodyPr/>
          <a:lstStyle/>
          <a:p>
            <a:endParaRPr lang="en-AU"/>
          </a:p>
        </p:txBody>
      </p:sp>
      <p:sp>
        <p:nvSpPr>
          <p:cNvPr id="7" name="Text 4"/>
          <p:cNvSpPr txBox="1"/>
          <p:nvPr/>
        </p:nvSpPr>
        <p:spPr>
          <a:xfrm>
            <a:off x="5394960" y="1234440"/>
            <a:ext cx="3154680" cy="731520"/>
          </a:xfrm>
          <a:prstGeom prst="rect">
            <a:avLst/>
          </a:prstGeom>
          <a:noFill/>
          <a:ln/>
        </p:spPr>
        <p:txBody>
          <a:bodyPr wrap="square" lIns="0" tIns="0" rIns="0" bIns="0" rtlCol="0" anchor="ctr"/>
          <a:lstStyle/>
          <a:p>
            <a:pPr marL="0" indent="0">
              <a:buNone/>
            </a:pPr>
            <a:r>
              <a:rPr lang="en-US" sz="1400" b="1" dirty="0">
                <a:solidFill>
                  <a:schemeClr val="tx1"/>
                </a:solidFill>
              </a:rPr>
              <a:t>One line per part</a:t>
            </a:r>
            <a:endParaRPr lang="en-US" sz="1400" dirty="0"/>
          </a:p>
          <a:p>
            <a:pPr marL="0" indent="0">
              <a:buNone/>
            </a:pPr>
            <a:r>
              <a:rPr lang="en-US" sz="1200" dirty="0">
                <a:solidFill>
                  <a:schemeClr val="accent6"/>
                </a:solidFill>
              </a:rPr>
              <a:t>name, nodes, value; the first letter says what it is</a:t>
            </a:r>
            <a:endParaRPr lang="en-US" sz="1400" dirty="0"/>
          </a:p>
        </p:txBody>
      </p:sp>
      <p:sp>
        <p:nvSpPr>
          <p:cNvPr id="8" name="Row 2"/>
          <p:cNvSpPr/>
          <p:nvPr/>
        </p:nvSpPr>
        <p:spPr>
          <a:xfrm>
            <a:off x="5257800" y="2057400"/>
            <a:ext cx="3429000" cy="731520"/>
          </a:xfrm>
          <a:prstGeom prst="rect">
            <a:avLst/>
          </a:prstGeom>
          <a:solidFill>
            <a:schemeClr val="bg2"/>
          </a:solidFill>
          <a:ln/>
        </p:spPr>
        <p:txBody>
          <a:bodyPr/>
          <a:lstStyle/>
          <a:p>
            <a:endParaRPr lang="en-AU"/>
          </a:p>
        </p:txBody>
      </p:sp>
      <p:sp>
        <p:nvSpPr>
          <p:cNvPr id="9" name="Text 6"/>
          <p:cNvSpPr txBox="1"/>
          <p:nvPr/>
        </p:nvSpPr>
        <p:spPr>
          <a:xfrm>
            <a:off x="5394960" y="2057400"/>
            <a:ext cx="3154680" cy="731520"/>
          </a:xfrm>
          <a:prstGeom prst="rect">
            <a:avLst/>
          </a:prstGeom>
          <a:noFill/>
          <a:ln/>
        </p:spPr>
        <p:txBody>
          <a:bodyPr wrap="square" lIns="0" tIns="0" rIns="0" bIns="0" rtlCol="0" anchor="ctr"/>
          <a:lstStyle/>
          <a:p>
            <a:pPr marL="0" indent="0">
              <a:buNone/>
            </a:pPr>
            <a:r>
              <a:rPr lang="en-US" sz="1400" b="1" dirty="0">
                <a:solidFill>
                  <a:schemeClr val="tx1"/>
                </a:solidFill>
              </a:rPr>
              <a:t>Node 0 is ground</a:t>
            </a:r>
            <a:endParaRPr lang="en-US" sz="1400" dirty="0"/>
          </a:p>
          <a:p>
            <a:pPr marL="0" indent="0">
              <a:buNone/>
            </a:pPr>
            <a:r>
              <a:rPr lang="en-US" sz="1200" dirty="0">
                <a:solidFill>
                  <a:schemeClr val="accent6"/>
                </a:solidFill>
              </a:rPr>
              <a:t>the 0 V reference everything is measured from</a:t>
            </a:r>
            <a:endParaRPr lang="en-US" sz="1400" dirty="0"/>
          </a:p>
        </p:txBody>
      </p:sp>
      <p:sp>
        <p:nvSpPr>
          <p:cNvPr id="10" name="Row 3"/>
          <p:cNvSpPr/>
          <p:nvPr/>
        </p:nvSpPr>
        <p:spPr>
          <a:xfrm>
            <a:off x="5257800" y="2880360"/>
            <a:ext cx="3429000" cy="731520"/>
          </a:xfrm>
          <a:prstGeom prst="rect">
            <a:avLst/>
          </a:prstGeom>
          <a:solidFill>
            <a:schemeClr val="bg2"/>
          </a:solidFill>
          <a:ln/>
        </p:spPr>
        <p:txBody>
          <a:bodyPr/>
          <a:lstStyle/>
          <a:p>
            <a:endParaRPr lang="en-AU"/>
          </a:p>
        </p:txBody>
      </p:sp>
      <p:sp>
        <p:nvSpPr>
          <p:cNvPr id="11" name="Text 8"/>
          <p:cNvSpPr txBox="1"/>
          <p:nvPr/>
        </p:nvSpPr>
        <p:spPr>
          <a:xfrm>
            <a:off x="5394960" y="2880360"/>
            <a:ext cx="3154680" cy="731520"/>
          </a:xfrm>
          <a:prstGeom prst="rect">
            <a:avLst/>
          </a:prstGeom>
          <a:noFill/>
          <a:ln/>
        </p:spPr>
        <p:txBody>
          <a:bodyPr wrap="square" lIns="0" tIns="0" rIns="0" bIns="0" rtlCol="0" anchor="ctr"/>
          <a:lstStyle/>
          <a:p>
            <a:pPr marL="0" indent="0">
              <a:buNone/>
            </a:pPr>
            <a:r>
              <a:rPr lang="en-US" sz="1400" b="1" dirty="0">
                <a:solidFill>
                  <a:schemeClr val="tx1"/>
                </a:solidFill>
              </a:rPr>
              <a:t>Dot lines are instructions</a:t>
            </a:r>
            <a:endParaRPr lang="en-US" sz="1400" dirty="0"/>
          </a:p>
          <a:p>
            <a:pPr marL="0" indent="0">
              <a:buNone/>
            </a:pPr>
            <a:r>
              <a:rPr lang="en-US" sz="1200" dirty="0">
                <a:solidFill>
                  <a:schemeClr val="accent6"/>
                </a:solidFill>
              </a:rPr>
              <a:t>what to simulate, what to print</a:t>
            </a:r>
            <a:endParaRPr lang="en-US" sz="1400" dirty="0"/>
          </a:p>
        </p:txBody>
      </p:sp>
      <p:sp>
        <p:nvSpPr>
          <p:cNvPr id="12" name="Row 4"/>
          <p:cNvSpPr/>
          <p:nvPr/>
        </p:nvSpPr>
        <p:spPr>
          <a:xfrm>
            <a:off x="5257800" y="3703320"/>
            <a:ext cx="3429000" cy="731520"/>
          </a:xfrm>
          <a:prstGeom prst="rect">
            <a:avLst/>
          </a:prstGeom>
          <a:solidFill>
            <a:schemeClr val="accent1"/>
          </a:solidFill>
          <a:ln/>
        </p:spPr>
        <p:txBody>
          <a:bodyPr/>
          <a:lstStyle/>
          <a:p>
            <a:endParaRPr lang="en-AU"/>
          </a:p>
        </p:txBody>
      </p:sp>
      <p:sp>
        <p:nvSpPr>
          <p:cNvPr id="13" name="Text 10"/>
          <p:cNvSpPr txBox="1"/>
          <p:nvPr/>
        </p:nvSpPr>
        <p:spPr>
          <a:xfrm>
            <a:off x="5394960" y="3703320"/>
            <a:ext cx="3154680" cy="731520"/>
          </a:xfrm>
          <a:prstGeom prst="rect">
            <a:avLst/>
          </a:prstGeom>
          <a:noFill/>
          <a:ln/>
        </p:spPr>
        <p:txBody>
          <a:bodyPr wrap="square" lIns="0" tIns="0" rIns="0" bIns="0" rtlCol="0" anchor="ctr"/>
          <a:lstStyle/>
          <a:p>
            <a:pPr marL="0" indent="0">
              <a:buNone/>
            </a:pPr>
            <a:r>
              <a:rPr lang="en-US" sz="1400" b="1" dirty="0">
                <a:solidFill>
                  <a:schemeClr val="bg1"/>
                </a:solidFill>
              </a:rPr>
              <a:t>Unit suffixes</a:t>
            </a:r>
            <a:endParaRPr lang="en-US" sz="1400" dirty="0"/>
          </a:p>
          <a:p>
            <a:pPr marL="0" indent="0">
              <a:buNone/>
            </a:pPr>
            <a:r>
              <a:rPr lang="en-US" sz="1200" dirty="0">
                <a:solidFill>
                  <a:schemeClr val="bg1"/>
                </a:solidFill>
              </a:rPr>
              <a:t>m = milli (1e-3), meg = mega (1e6)</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Parsing and subcircuits</a:t>
            </a:r>
            <a:endParaRPr lang="en-US" sz="3400" dirty="0"/>
          </a:p>
        </p:txBody>
      </p:sp>
      <p:sp>
        <p:nvSpPr>
          <p:cNvPr id="4" name="Number 1"/>
          <p:cNvSpPr txBox="1"/>
          <p:nvPr/>
        </p:nvSpPr>
        <p:spPr>
          <a:xfrm>
            <a:off x="457200" y="1344168"/>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1</a:t>
            </a:r>
            <a:endParaRPr lang="en-US" sz="2200" dirty="0"/>
          </a:p>
        </p:txBody>
      </p:sp>
      <p:sp>
        <p:nvSpPr>
          <p:cNvPr id="5" name="Text 2"/>
          <p:cNvSpPr txBox="1"/>
          <p:nvPr/>
        </p:nvSpPr>
        <p:spPr>
          <a:xfrm>
            <a:off x="1005840" y="1234440"/>
            <a:ext cx="3383280" cy="731520"/>
          </a:xfrm>
          <a:prstGeom prst="rect">
            <a:avLst/>
          </a:prstGeom>
          <a:noFill/>
          <a:ln/>
        </p:spPr>
        <p:txBody>
          <a:bodyPr wrap="square" lIns="0" tIns="0" rIns="0" bIns="0" rtlCol="0" anchor="ctr"/>
          <a:lstStyle/>
          <a:p>
            <a:pPr marL="0" indent="0">
              <a:buNone/>
            </a:pPr>
            <a:r>
              <a:rPr lang="en-US" sz="1500" b="1" dirty="0">
                <a:solidFill>
                  <a:schemeClr val="tx1"/>
                </a:solidFill>
              </a:rPr>
              <a:t>Clean the lines</a:t>
            </a:r>
            <a:endParaRPr lang="en-US" sz="1500" dirty="0"/>
          </a:p>
          <a:p>
            <a:pPr marL="0" indent="0">
              <a:buNone/>
            </a:pPr>
            <a:r>
              <a:rPr lang="en-US" sz="1200" dirty="0">
                <a:solidFill>
                  <a:schemeClr val="accent6"/>
                </a:solidFill>
              </a:rPr>
              <a:t>strip comments, join continuations, remember line numbers</a:t>
            </a:r>
            <a:endParaRPr lang="en-US" sz="1500" dirty="0"/>
          </a:p>
        </p:txBody>
      </p:sp>
      <p:sp>
        <p:nvSpPr>
          <p:cNvPr id="6" name="Number 2"/>
          <p:cNvSpPr txBox="1"/>
          <p:nvPr/>
        </p:nvSpPr>
        <p:spPr>
          <a:xfrm>
            <a:off x="457200" y="2167128"/>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2</a:t>
            </a:r>
            <a:endParaRPr lang="en-US" sz="2200" dirty="0"/>
          </a:p>
        </p:txBody>
      </p:sp>
      <p:sp>
        <p:nvSpPr>
          <p:cNvPr id="7" name="Text 4"/>
          <p:cNvSpPr txBox="1"/>
          <p:nvPr/>
        </p:nvSpPr>
        <p:spPr>
          <a:xfrm>
            <a:off x="1005840" y="2057400"/>
            <a:ext cx="3383280" cy="731520"/>
          </a:xfrm>
          <a:prstGeom prst="rect">
            <a:avLst/>
          </a:prstGeom>
          <a:noFill/>
          <a:ln/>
        </p:spPr>
        <p:txBody>
          <a:bodyPr wrap="square" lIns="0" tIns="0" rIns="0" bIns="0" rtlCol="0" anchor="ctr"/>
          <a:lstStyle/>
          <a:p>
            <a:pPr marL="0" indent="0">
              <a:buNone/>
            </a:pPr>
            <a:r>
              <a:rPr lang="en-US" sz="1500" b="1" dirty="0">
                <a:solidFill>
                  <a:schemeClr val="tx1"/>
                </a:solidFill>
              </a:rPr>
              <a:t>Directives first</a:t>
            </a:r>
            <a:endParaRPr lang="en-US" sz="1500" dirty="0"/>
          </a:p>
          <a:p>
            <a:pPr marL="0" indent="0">
              <a:buNone/>
            </a:pPr>
            <a:r>
              <a:rPr lang="en-US" sz="1200" dirty="0">
                <a:solidFill>
                  <a:schemeClr val="accent6"/>
                </a:solidFill>
              </a:rPr>
              <a:t>.model may come after the device that uses it</a:t>
            </a:r>
            <a:endParaRPr lang="en-US" sz="1500" dirty="0"/>
          </a:p>
        </p:txBody>
      </p:sp>
      <p:sp>
        <p:nvSpPr>
          <p:cNvPr id="8" name="Number 3"/>
          <p:cNvSpPr txBox="1"/>
          <p:nvPr/>
        </p:nvSpPr>
        <p:spPr>
          <a:xfrm>
            <a:off x="457200" y="2990088"/>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3</a:t>
            </a:r>
            <a:endParaRPr lang="en-US" sz="2200" dirty="0"/>
          </a:p>
        </p:txBody>
      </p:sp>
      <p:sp>
        <p:nvSpPr>
          <p:cNvPr id="9" name="Text 6"/>
          <p:cNvSpPr txBox="1"/>
          <p:nvPr/>
        </p:nvSpPr>
        <p:spPr>
          <a:xfrm>
            <a:off x="1005840" y="2880360"/>
            <a:ext cx="3383280" cy="731520"/>
          </a:xfrm>
          <a:prstGeom prst="rect">
            <a:avLst/>
          </a:prstGeom>
          <a:noFill/>
          <a:ln/>
        </p:spPr>
        <p:txBody>
          <a:bodyPr wrap="square" lIns="0" tIns="0" rIns="0" bIns="0" rtlCol="0" anchor="ctr"/>
          <a:lstStyle/>
          <a:p>
            <a:pPr marL="0" indent="0">
              <a:buNone/>
            </a:pPr>
            <a:r>
              <a:rPr lang="en-US" sz="1500" b="1" dirty="0">
                <a:solidFill>
                  <a:schemeClr val="tx1"/>
                </a:solidFill>
              </a:rPr>
              <a:t>First letter picks the class</a:t>
            </a:r>
            <a:endParaRPr lang="en-US" sz="1500" dirty="0"/>
          </a:p>
          <a:p>
            <a:pPr marL="0" indent="0">
              <a:buNone/>
            </a:pPr>
            <a:r>
              <a:rPr lang="en-US" sz="1200" dirty="0">
                <a:solidFill>
                  <a:schemeClr val="accent6"/>
                </a:solidFill>
              </a:rPr>
              <a:t>each device class parses its own syntax</a:t>
            </a:r>
            <a:endParaRPr lang="en-US" sz="1500" dirty="0"/>
          </a:p>
        </p:txBody>
      </p:sp>
      <p:sp>
        <p:nvSpPr>
          <p:cNvPr id="10" name="Number 4"/>
          <p:cNvSpPr txBox="1"/>
          <p:nvPr/>
        </p:nvSpPr>
        <p:spPr>
          <a:xfrm>
            <a:off x="457200" y="3813048"/>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4</a:t>
            </a:r>
            <a:endParaRPr lang="en-US" sz="2200" dirty="0"/>
          </a:p>
        </p:txBody>
      </p:sp>
      <p:sp>
        <p:nvSpPr>
          <p:cNvPr id="11" name="Text 8"/>
          <p:cNvSpPr txBox="1"/>
          <p:nvPr/>
        </p:nvSpPr>
        <p:spPr>
          <a:xfrm>
            <a:off x="1005840" y="3703320"/>
            <a:ext cx="3383280" cy="731520"/>
          </a:xfrm>
          <a:prstGeom prst="rect">
            <a:avLst/>
          </a:prstGeom>
          <a:noFill/>
          <a:ln/>
        </p:spPr>
        <p:txBody>
          <a:bodyPr wrap="square" lIns="0" tIns="0" rIns="0" bIns="0" rtlCol="0" anchor="ctr"/>
          <a:lstStyle/>
          <a:p>
            <a:pPr marL="0" indent="0">
              <a:buNone/>
            </a:pPr>
            <a:r>
              <a:rPr lang="en-US" sz="1500" b="1" dirty="0">
                <a:solidFill>
                  <a:schemeClr val="tx1"/>
                </a:solidFill>
              </a:rPr>
              <a:t>Validate right away</a:t>
            </a:r>
            <a:endParaRPr lang="en-US" sz="1500" dirty="0"/>
          </a:p>
          <a:p>
            <a:pPr marL="0" indent="0">
              <a:buNone/>
            </a:pPr>
            <a:r>
              <a:rPr lang="en-US" sz="1200" dirty="0">
                <a:solidFill>
                  <a:schemeClr val="accent6"/>
                </a:solidFill>
              </a:rPr>
              <a:t>errors name the line and what to fix</a:t>
            </a:r>
            <a:endParaRPr lang="en-US" sz="1500" dirty="0"/>
          </a:p>
        </p:txBody>
      </p:sp>
      <p:sp>
        <p:nvSpPr>
          <p:cNvPr id="12" name="Flatten card"/>
          <p:cNvSpPr/>
          <p:nvPr/>
        </p:nvSpPr>
        <p:spPr>
          <a:xfrm>
            <a:off x="4663440" y="1234440"/>
            <a:ext cx="4023360" cy="2148840"/>
          </a:xfrm>
          <a:prstGeom prst="rect">
            <a:avLst/>
          </a:prstGeom>
          <a:solidFill>
            <a:schemeClr val="tx1"/>
          </a:solidFill>
          <a:ln/>
        </p:spPr>
        <p:txBody>
          <a:bodyPr/>
          <a:lstStyle/>
          <a:p>
            <a:endParaRPr lang="en-AU"/>
          </a:p>
        </p:txBody>
      </p:sp>
      <p:sp>
        <p:nvSpPr>
          <p:cNvPr id="13" name="Text 10"/>
          <p:cNvSpPr txBox="1"/>
          <p:nvPr/>
        </p:nvSpPr>
        <p:spPr>
          <a:xfrm>
            <a:off x="4846320" y="1325880"/>
            <a:ext cx="3657600" cy="274320"/>
          </a:xfrm>
          <a:prstGeom prst="rect">
            <a:avLst/>
          </a:prstGeom>
          <a:noFill/>
          <a:ln/>
        </p:spPr>
        <p:txBody>
          <a:bodyPr wrap="square" lIns="0" tIns="0" rIns="0" bIns="0" rtlCol="0" anchor="t"/>
          <a:lstStyle/>
          <a:p>
            <a:pPr marL="0" indent="0">
              <a:buNone/>
            </a:pPr>
            <a:r>
              <a:rPr lang="en-US" sz="1400" b="1" dirty="0">
                <a:solidFill>
                  <a:schemeClr val="accent3"/>
                </a:solidFill>
              </a:rPr>
              <a:t>Flattening = renaming</a:t>
            </a:r>
            <a:endParaRPr lang="en-US" sz="1400" dirty="0"/>
          </a:p>
        </p:txBody>
      </p:sp>
      <p:sp>
        <p:nvSpPr>
          <p:cNvPr id="14" name="Text 11"/>
          <p:cNvSpPr txBox="1"/>
          <p:nvPr/>
        </p:nvSpPr>
        <p:spPr>
          <a:xfrm>
            <a:off x="4846320" y="1691640"/>
            <a:ext cx="2011680" cy="365760"/>
          </a:xfrm>
          <a:prstGeom prst="rect">
            <a:avLst/>
          </a:prstGeom>
          <a:noFill/>
          <a:ln/>
        </p:spPr>
        <p:txBody>
          <a:bodyPr wrap="square" lIns="0" tIns="0" rIns="0" bIns="0" rtlCol="0" anchor="ctr"/>
          <a:lstStyle/>
          <a:p>
            <a:pPr marL="0" indent="0">
              <a:buNone/>
            </a:pPr>
            <a:r>
              <a:rPr lang="en-US" sz="1200" dirty="0">
                <a:solidFill>
                  <a:schemeClr val="bg1"/>
                </a:solidFill>
              </a:rPr>
              <a:t>r1 inside xa</a:t>
            </a:r>
            <a:endParaRPr lang="en-US" sz="1200" dirty="0"/>
          </a:p>
        </p:txBody>
      </p:sp>
      <p:sp>
        <p:nvSpPr>
          <p:cNvPr id="15" name="Text 12"/>
          <p:cNvSpPr txBox="1"/>
          <p:nvPr/>
        </p:nvSpPr>
        <p:spPr>
          <a:xfrm>
            <a:off x="6812280" y="1691640"/>
            <a:ext cx="274320" cy="365760"/>
          </a:xfrm>
          <a:prstGeom prst="rect">
            <a:avLst/>
          </a:prstGeom>
          <a:noFill/>
          <a:ln/>
        </p:spPr>
        <p:txBody>
          <a:bodyPr wrap="square" lIns="0" tIns="0" rIns="0" bIns="0" rtlCol="0" anchor="ctr"/>
          <a:lstStyle/>
          <a:p>
            <a:pPr marL="0" indent="0" algn="ctr">
              <a:buNone/>
            </a:pPr>
            <a:r>
              <a:rPr lang="en-US" sz="1400" b="1" dirty="0">
                <a:solidFill>
                  <a:schemeClr val="accent1"/>
                </a:solidFill>
              </a:rPr>
              <a:t>-&gt;</a:t>
            </a:r>
            <a:endParaRPr lang="en-US" sz="1400" dirty="0"/>
          </a:p>
        </p:txBody>
      </p:sp>
      <p:sp>
        <p:nvSpPr>
          <p:cNvPr id="16" name="Text 13"/>
          <p:cNvSpPr txBox="1"/>
          <p:nvPr/>
        </p:nvSpPr>
        <p:spPr>
          <a:xfrm>
            <a:off x="7132320" y="1691640"/>
            <a:ext cx="1463040" cy="36576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xa.r1</a:t>
            </a:r>
            <a:endParaRPr lang="en-US" sz="1200" dirty="0"/>
          </a:p>
        </p:txBody>
      </p:sp>
      <p:sp>
        <p:nvSpPr>
          <p:cNvPr id="17" name="Text 14"/>
          <p:cNvSpPr txBox="1"/>
          <p:nvPr/>
        </p:nvSpPr>
        <p:spPr>
          <a:xfrm>
            <a:off x="4846320" y="2103120"/>
            <a:ext cx="2011680" cy="365760"/>
          </a:xfrm>
          <a:prstGeom prst="rect">
            <a:avLst/>
          </a:prstGeom>
          <a:noFill/>
          <a:ln/>
        </p:spPr>
        <p:txBody>
          <a:bodyPr wrap="square" lIns="0" tIns="0" rIns="0" bIns="0" rtlCol="0" anchor="ctr"/>
          <a:lstStyle/>
          <a:p>
            <a:pPr marL="0" indent="0">
              <a:buNone/>
            </a:pPr>
            <a:r>
              <a:rPr lang="en-US" sz="1200" dirty="0">
                <a:solidFill>
                  <a:schemeClr val="bg1"/>
                </a:solidFill>
              </a:rPr>
              <a:t>node mid inside xa</a:t>
            </a:r>
            <a:endParaRPr lang="en-US" sz="1200" dirty="0"/>
          </a:p>
        </p:txBody>
      </p:sp>
      <p:sp>
        <p:nvSpPr>
          <p:cNvPr id="18" name="Text 15"/>
          <p:cNvSpPr txBox="1"/>
          <p:nvPr/>
        </p:nvSpPr>
        <p:spPr>
          <a:xfrm>
            <a:off x="6812280" y="2103120"/>
            <a:ext cx="274320" cy="365760"/>
          </a:xfrm>
          <a:prstGeom prst="rect">
            <a:avLst/>
          </a:prstGeom>
          <a:noFill/>
          <a:ln/>
        </p:spPr>
        <p:txBody>
          <a:bodyPr wrap="square" lIns="0" tIns="0" rIns="0" bIns="0" rtlCol="0" anchor="ctr"/>
          <a:lstStyle/>
          <a:p>
            <a:pPr marL="0" indent="0" algn="ctr">
              <a:buNone/>
            </a:pPr>
            <a:r>
              <a:rPr lang="en-US" sz="1400" b="1" dirty="0">
                <a:solidFill>
                  <a:schemeClr val="accent1"/>
                </a:solidFill>
              </a:rPr>
              <a:t>-&gt;</a:t>
            </a:r>
            <a:endParaRPr lang="en-US" sz="1400" dirty="0"/>
          </a:p>
        </p:txBody>
      </p:sp>
      <p:sp>
        <p:nvSpPr>
          <p:cNvPr id="19" name="Text 16"/>
          <p:cNvSpPr txBox="1"/>
          <p:nvPr/>
        </p:nvSpPr>
        <p:spPr>
          <a:xfrm>
            <a:off x="7132320" y="2103120"/>
            <a:ext cx="1463040" cy="36576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xa.mid</a:t>
            </a:r>
            <a:endParaRPr lang="en-US" sz="1200" dirty="0"/>
          </a:p>
        </p:txBody>
      </p:sp>
      <p:sp>
        <p:nvSpPr>
          <p:cNvPr id="20" name="Text 17"/>
          <p:cNvSpPr txBox="1"/>
          <p:nvPr/>
        </p:nvSpPr>
        <p:spPr>
          <a:xfrm>
            <a:off x="4846320" y="2514600"/>
            <a:ext cx="2011680" cy="365760"/>
          </a:xfrm>
          <a:prstGeom prst="rect">
            <a:avLst/>
          </a:prstGeom>
          <a:noFill/>
          <a:ln/>
        </p:spPr>
        <p:txBody>
          <a:bodyPr wrap="square" lIns="0" tIns="0" rIns="0" bIns="0" rtlCol="0" anchor="ctr"/>
          <a:lstStyle/>
          <a:p>
            <a:pPr marL="0" indent="0">
              <a:buNone/>
            </a:pPr>
            <a:r>
              <a:rPr lang="en-US" sz="1200" dirty="0">
                <a:solidFill>
                  <a:schemeClr val="bg1"/>
                </a:solidFill>
              </a:rPr>
              <a:t>x1 inside xa, r1 inside that</a:t>
            </a:r>
            <a:endParaRPr lang="en-US" sz="1200" dirty="0"/>
          </a:p>
        </p:txBody>
      </p:sp>
      <p:sp>
        <p:nvSpPr>
          <p:cNvPr id="21" name="Text 18"/>
          <p:cNvSpPr txBox="1"/>
          <p:nvPr/>
        </p:nvSpPr>
        <p:spPr>
          <a:xfrm>
            <a:off x="6812280" y="2514600"/>
            <a:ext cx="274320" cy="365760"/>
          </a:xfrm>
          <a:prstGeom prst="rect">
            <a:avLst/>
          </a:prstGeom>
          <a:noFill/>
          <a:ln/>
        </p:spPr>
        <p:txBody>
          <a:bodyPr wrap="square" lIns="0" tIns="0" rIns="0" bIns="0" rtlCol="0" anchor="ctr"/>
          <a:lstStyle/>
          <a:p>
            <a:pPr marL="0" indent="0" algn="ctr">
              <a:buNone/>
            </a:pPr>
            <a:r>
              <a:rPr lang="en-US" sz="1400" b="1" dirty="0">
                <a:solidFill>
                  <a:schemeClr val="accent1"/>
                </a:solidFill>
              </a:rPr>
              <a:t>-&gt;</a:t>
            </a:r>
            <a:endParaRPr lang="en-US" sz="1400" dirty="0"/>
          </a:p>
        </p:txBody>
      </p:sp>
      <p:sp>
        <p:nvSpPr>
          <p:cNvPr id="22" name="Text 19"/>
          <p:cNvSpPr txBox="1"/>
          <p:nvPr/>
        </p:nvSpPr>
        <p:spPr>
          <a:xfrm>
            <a:off x="7132320" y="2514600"/>
            <a:ext cx="1463040" cy="36576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xa.x1.r1</a:t>
            </a:r>
            <a:endParaRPr lang="en-US" sz="1200" dirty="0"/>
          </a:p>
        </p:txBody>
      </p:sp>
      <p:sp>
        <p:nvSpPr>
          <p:cNvPr id="23" name="Text 20"/>
          <p:cNvSpPr txBox="1"/>
          <p:nvPr/>
        </p:nvSpPr>
        <p:spPr>
          <a:xfrm>
            <a:off x="4846320" y="2926080"/>
            <a:ext cx="2011680" cy="365760"/>
          </a:xfrm>
          <a:prstGeom prst="rect">
            <a:avLst/>
          </a:prstGeom>
          <a:noFill/>
          <a:ln/>
        </p:spPr>
        <p:txBody>
          <a:bodyPr wrap="square" lIns="0" tIns="0" rIns="0" bIns="0" rtlCol="0" anchor="ctr"/>
          <a:lstStyle/>
          <a:p>
            <a:pPr marL="0" indent="0">
              <a:buNone/>
            </a:pPr>
            <a:r>
              <a:rPr lang="en-US" sz="1200" dirty="0">
                <a:solidFill>
                  <a:schemeClr val="bg1"/>
                </a:solidFill>
              </a:rPr>
              <a:t>ground</a:t>
            </a:r>
            <a:endParaRPr lang="en-US" sz="1200" dirty="0"/>
          </a:p>
        </p:txBody>
      </p:sp>
      <p:sp>
        <p:nvSpPr>
          <p:cNvPr id="24" name="Text 21"/>
          <p:cNvSpPr txBox="1"/>
          <p:nvPr/>
        </p:nvSpPr>
        <p:spPr>
          <a:xfrm>
            <a:off x="6812280" y="2926080"/>
            <a:ext cx="274320" cy="365760"/>
          </a:xfrm>
          <a:prstGeom prst="rect">
            <a:avLst/>
          </a:prstGeom>
          <a:noFill/>
          <a:ln/>
        </p:spPr>
        <p:txBody>
          <a:bodyPr wrap="square" lIns="0" tIns="0" rIns="0" bIns="0" rtlCol="0" anchor="ctr"/>
          <a:lstStyle/>
          <a:p>
            <a:pPr marL="0" indent="0" algn="ctr">
              <a:buNone/>
            </a:pPr>
            <a:r>
              <a:rPr lang="en-US" sz="1400" b="1" dirty="0">
                <a:solidFill>
                  <a:schemeClr val="accent1"/>
                </a:solidFill>
              </a:rPr>
              <a:t>-&gt;</a:t>
            </a:r>
            <a:endParaRPr lang="en-US" sz="1400" dirty="0"/>
          </a:p>
        </p:txBody>
      </p:sp>
      <p:sp>
        <p:nvSpPr>
          <p:cNvPr id="25" name="Text 22"/>
          <p:cNvSpPr txBox="1"/>
          <p:nvPr/>
        </p:nvSpPr>
        <p:spPr>
          <a:xfrm>
            <a:off x="7132320" y="2926080"/>
            <a:ext cx="1463040" cy="365760"/>
          </a:xfrm>
          <a:prstGeom prst="rect">
            <a:avLst/>
          </a:prstGeom>
          <a:noFill/>
          <a:ln/>
        </p:spPr>
        <p:txBody>
          <a:bodyPr wrap="square" lIns="0" tIns="0" rIns="0" bIns="0" rtlCol="0" anchor="ctr"/>
          <a:lstStyle/>
          <a:p>
            <a:pPr marL="0" indent="0">
              <a:buNone/>
            </a:pPr>
            <a:r>
              <a:rPr lang="en-US" sz="1200" b="1" dirty="0">
                <a:solidFill>
                  <a:schemeClr val="accent4"/>
                </a:solidFill>
                <a:latin typeface="Courier New" pitchFamily="34" charset="0"/>
                <a:ea typeface="Courier New" pitchFamily="34" charset="-122"/>
                <a:cs typeface="Courier New" pitchFamily="34" charset="-120"/>
              </a:rPr>
              <a:t>0 (stays global)</a:t>
            </a:r>
            <a:endParaRPr lang="en-US" sz="1200" dirty="0"/>
          </a:p>
        </p:txBody>
      </p:sp>
      <p:sp>
        <p:nvSpPr>
          <p:cNvPr id="26" name="Divider stat"/>
          <p:cNvSpPr txBox="1"/>
          <p:nvPr/>
        </p:nvSpPr>
        <p:spPr>
          <a:xfrm>
            <a:off x="4663440" y="3566160"/>
            <a:ext cx="4023360" cy="914400"/>
          </a:xfrm>
          <a:prstGeom prst="rect">
            <a:avLst/>
          </a:prstGeom>
          <a:solidFill>
            <a:schemeClr val="bg2"/>
          </a:solidFill>
          <a:ln/>
        </p:spPr>
        <p:txBody>
          <a:bodyPr wrap="square" lIns="101600" tIns="101600" rIns="101600" bIns="101600" rtlCol="0" anchor="ctr"/>
          <a:lstStyle/>
          <a:p>
            <a:pPr marL="0" indent="0" algn="ctr">
              <a:buNone/>
            </a:pPr>
            <a:r>
              <a:rPr lang="en-US" sz="2200" b="1" dirty="0">
                <a:solidFill>
                  <a:schemeClr val="accent1"/>
                </a:solidFill>
              </a:rPr>
              <a:t>12/19 = 0.631579 V</a:t>
            </a:r>
            <a:endParaRPr lang="en-US" sz="2200" dirty="0"/>
          </a:p>
          <a:p>
            <a:pPr marL="0" indent="0" algn="ctr">
              <a:buNone/>
            </a:pPr>
            <a:r>
              <a:rPr lang="en-US" sz="1200" dirty="0">
                <a:solidFill>
                  <a:schemeClr val="tx1"/>
                </a:solidFill>
              </a:rPr>
              <a:t>cascaded dividers: hand calculation = simulator</a:t>
            </a:r>
            <a:endParaRPr lang="en-US" sz="22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Applications in other fields</a:t>
            </a:r>
            <a:endParaRPr lang="en-US" sz="3400" dirty="0"/>
          </a:p>
        </p:txBody>
      </p:sp>
      <p:graphicFrame>
        <p:nvGraphicFramePr>
          <p:cNvPr id="7" name="Analogy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624328"/>
        </p:xfrm>
        <a:graphic>
          <a:graphicData uri="http://schemas.openxmlformats.org/drawingml/2006/table">
            <a:tbl>
              <a:tblPr/>
              <a:tblGrid>
                <a:gridCol w="19202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74904">
                <a:tc>
                  <a:txBody>
                    <a:bodyPr/>
                    <a:lstStyle/>
                    <a:p>
                      <a:pPr marL="0" indent="0" algn="l">
                        <a:buNone/>
                      </a:pPr>
                      <a:r>
                        <a:rPr lang="en-US" sz="1300" b="1" dirty="0">
                          <a:solidFill>
                            <a:schemeClr val="bg1"/>
                          </a:solidFill>
                        </a:rPr>
                        <a:t>Electrical</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tc>
                  <a:txBody>
                    <a:bodyPr/>
                    <a:lstStyle/>
                    <a:p>
                      <a:pPr marL="0" indent="0" algn="l">
                        <a:buNone/>
                      </a:pPr>
                      <a:r>
                        <a:rPr lang="en-US" sz="1300" b="1" dirty="0">
                          <a:solidFill>
                            <a:schemeClr val="bg1"/>
                          </a:solidFill>
                        </a:rPr>
                        <a:t>Hydraulic</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tc>
                  <a:txBody>
                    <a:bodyPr/>
                    <a:lstStyle/>
                    <a:p>
                      <a:pPr marL="0" indent="0" algn="l">
                        <a:buNone/>
                      </a:pPr>
                      <a:r>
                        <a:rPr lang="en-US" sz="1300" b="1" dirty="0">
                          <a:solidFill>
                            <a:schemeClr val="bg1"/>
                          </a:solidFill>
                        </a:rPr>
                        <a:t>Thermal</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tc>
                  <a:txBody>
                    <a:bodyPr/>
                    <a:lstStyle/>
                    <a:p>
                      <a:pPr marL="0" indent="0" algn="l">
                        <a:buNone/>
                      </a:pPr>
                      <a:r>
                        <a:rPr lang="en-US" sz="1300" b="1" dirty="0">
                          <a:solidFill>
                            <a:schemeClr val="bg1"/>
                          </a:solidFill>
                        </a:rPr>
                        <a:t>Mechanical</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74904">
                <a:tc>
                  <a:txBody>
                    <a:bodyPr/>
                    <a:lstStyle/>
                    <a:p>
                      <a:pPr marL="0" indent="0">
                        <a:buNone/>
                      </a:pPr>
                      <a:r>
                        <a:rPr lang="en-US" sz="1300" b="1" dirty="0">
                          <a:solidFill>
                            <a:schemeClr val="tx1"/>
                          </a:solidFill>
                        </a:rPr>
                        <a:t>Voltage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Pressure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Temperature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Velocity</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1"/>
                  </a:ext>
                </a:extLst>
              </a:tr>
              <a:tr h="374904">
                <a:tc>
                  <a:txBody>
                    <a:bodyPr/>
                    <a:lstStyle/>
                    <a:p>
                      <a:pPr marL="0" indent="0">
                        <a:buNone/>
                      </a:pPr>
                      <a:r>
                        <a:rPr lang="en-US" sz="1300" b="1" dirty="0">
                          <a:solidFill>
                            <a:schemeClr val="tx1"/>
                          </a:solidFill>
                        </a:rPr>
                        <a:t>Current</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Flow rate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Heat flow</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Force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2"/>
                  </a:ext>
                </a:extLst>
              </a:tr>
              <a:tr h="374904">
                <a:tc>
                  <a:txBody>
                    <a:bodyPr/>
                    <a:lstStyle/>
                    <a:p>
                      <a:pPr marL="0" indent="0">
                        <a:buNone/>
                      </a:pPr>
                      <a:r>
                        <a:rPr lang="en-US" sz="1300" b="1" dirty="0">
                          <a:solidFill>
                            <a:schemeClr val="tx1"/>
                          </a:solidFill>
                        </a:rPr>
                        <a:t>Resistor R</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Pipe friction</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Thermal resistance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Damper, R = 1/b</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3"/>
                  </a:ext>
                </a:extLst>
              </a:tr>
              <a:tr h="374904">
                <a:tc>
                  <a:txBody>
                    <a:bodyPr/>
                    <a:lstStyle/>
                    <a:p>
                      <a:pPr marL="0" indent="0">
                        <a:buNone/>
                      </a:pPr>
                      <a:r>
                        <a:rPr lang="en-US" sz="1300" b="1" dirty="0">
                          <a:solidFill>
                            <a:schemeClr val="tx1"/>
                          </a:solidFill>
                        </a:rPr>
                        <a:t>Capacitor C</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Storage tank</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Thermal mass</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Mass, C = m</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4"/>
                  </a:ext>
                </a:extLst>
              </a:tr>
              <a:tr h="374904">
                <a:tc>
                  <a:txBody>
                    <a:bodyPr/>
                    <a:lstStyle/>
                    <a:p>
                      <a:pPr marL="0" indent="0">
                        <a:buNone/>
                      </a:pPr>
                      <a:r>
                        <a:rPr lang="en-US" sz="1300" b="1" dirty="0">
                          <a:solidFill>
                            <a:schemeClr val="tx1"/>
                          </a:solidFill>
                        </a:rPr>
                        <a:t>Inductor L</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Fluid inertia</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(rarely used)</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Spring, L = 1/k</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5"/>
                  </a:ext>
                </a:extLst>
              </a:tr>
              <a:tr h="374904">
                <a:tc>
                  <a:txBody>
                    <a:bodyPr/>
                    <a:lstStyle/>
                    <a:p>
                      <a:pPr marL="0" indent="0">
                        <a:buNone/>
                      </a:pPr>
                      <a:r>
                        <a:rPr lang="en-US" sz="1300" b="1" dirty="0">
                          <a:solidFill>
                            <a:schemeClr val="tx1"/>
                          </a:solidFill>
                        </a:rPr>
                        <a:t>KCL</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Flow in = flow out</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Heat balance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300" dirty="0">
                          <a:solidFill>
                            <a:schemeClr val="tx1"/>
                          </a:solidFill>
                        </a:rPr>
                        <a:t>Force balance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Graph note"/>
          <p:cNvSpPr/>
          <p:nvPr/>
        </p:nvSpPr>
        <p:spPr>
          <a:xfrm>
            <a:off x="457200" y="4023360"/>
            <a:ext cx="8229600" cy="548640"/>
          </a:xfrm>
          <a:prstGeom prst="rect">
            <a:avLst/>
          </a:prstGeom>
          <a:solidFill>
            <a:schemeClr val="accent1"/>
          </a:solidFill>
          <a:ln/>
        </p:spPr>
        <p:txBody>
          <a:bodyPr/>
          <a:lstStyle/>
          <a:p>
            <a:endParaRPr lang="en-AU"/>
          </a:p>
        </p:txBody>
      </p:sp>
      <p:sp>
        <p:nvSpPr>
          <p:cNvPr id="6" name="Text 2"/>
          <p:cNvSpPr txBox="1"/>
          <p:nvPr/>
        </p:nvSpPr>
        <p:spPr>
          <a:xfrm>
            <a:off x="685800" y="4023360"/>
            <a:ext cx="7772400" cy="548640"/>
          </a:xfrm>
          <a:prstGeom prst="rect">
            <a:avLst/>
          </a:prstGeom>
          <a:noFill/>
          <a:ln/>
        </p:spPr>
        <p:txBody>
          <a:bodyPr wrap="square" lIns="0" tIns="0" rIns="0" bIns="0" rtlCol="0" anchor="ctr"/>
          <a:lstStyle/>
          <a:p>
            <a:pPr marL="0" indent="0">
              <a:buNone/>
            </a:pPr>
            <a:r>
              <a:rPr lang="en-US" sz="1400" b="1" dirty="0">
                <a:solidFill>
                  <a:schemeClr val="bg1"/>
                </a:solidFill>
              </a:rPr>
              <a:t>In the code: nets are vertices, devices are edges of a hypergraph (a transistor touches three nets).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KCL becomes a matrix</a:t>
            </a:r>
            <a:endParaRPr lang="en-US" sz="3400" dirty="0"/>
          </a:p>
        </p:txBody>
      </p:sp>
      <p:sp>
        <p:nvSpPr>
          <p:cNvPr id="4" name="Text 1"/>
          <p:cNvSpPr txBox="1"/>
          <p:nvPr/>
        </p:nvSpPr>
        <p:spPr>
          <a:xfrm>
            <a:off x="457200" y="1097280"/>
            <a:ext cx="8229600" cy="320040"/>
          </a:xfrm>
          <a:prstGeom prst="rect">
            <a:avLst/>
          </a:prstGeom>
          <a:noFill/>
          <a:ln/>
        </p:spPr>
        <p:txBody>
          <a:bodyPr wrap="square" lIns="0" tIns="0" rIns="0" bIns="0" rtlCol="0" anchor="t"/>
          <a:lstStyle/>
          <a:p>
            <a:pPr marL="0" indent="0">
              <a:buNone/>
            </a:pPr>
            <a:r>
              <a:rPr lang="en-US" sz="1400" dirty="0">
                <a:solidFill>
                  <a:schemeClr val="accent6"/>
                </a:solidFill>
              </a:rPr>
              <a:t>10 V source, R1 = 1 kΩ in series with R2 = 3 kΩ to ground. Unknowns: v(in), v(out), i(V1).</a:t>
            </a:r>
            <a:endParaRPr lang="en-US" sz="1400" dirty="0"/>
          </a:p>
        </p:txBody>
      </p:sp>
      <p:graphicFrame>
        <p:nvGraphicFramePr>
          <p:cNvPr id="8" name="Matrix G"/>
          <p:cNvGraphicFramePr>
            <a:graphicFrameLocks noGrp="1"/>
          </p:cNvGraphicFramePr>
          <p:nvPr>
            <p:extLst>
              <p:ext uri="{D42A27DB-BD31-4B8C-83A1-F6EECF244321}">
                <p14:modId xmlns:p14="http://schemas.microsoft.com/office/powerpoint/2010/main" val="1579011935"/>
              </p:ext>
            </p:extLst>
          </p:nvPr>
        </p:nvGraphicFramePr>
        <p:xfrm>
          <a:off x="457200" y="1600200"/>
          <a:ext cx="3566160" cy="13716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0.001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-0.001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-0.001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0.001333</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4069080" y="1600200"/>
            <a:ext cx="274320" cy="13716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graphicFrame>
        <p:nvGraphicFramePr>
          <p:cNvPr id="15" name="Unknowns"/>
          <p:cNvGraphicFramePr>
            <a:graphicFrameLocks noGrp="1"/>
          </p:cNvGraphicFramePr>
          <p:nvPr>
            <p:extLst>
              <p:ext uri="{D42A27DB-BD31-4B8C-83A1-F6EECF244321}">
                <p14:modId xmlns:p14="http://schemas.microsoft.com/office/powerpoint/2010/main" val="1579011935"/>
              </p:ext>
            </p:extLst>
          </p:nvPr>
        </p:nvGraphicFramePr>
        <p:xfrm>
          <a:off x="4389120" y="1600200"/>
          <a:ext cx="1097280" cy="1371600"/>
        </p:xfrm>
        <a:graphic>
          <a:graphicData uri="http://schemas.openxmlformats.org/drawingml/2006/table">
            <a:tbl>
              <a:tblPr/>
              <a:tblGrid>
                <a:gridCol w="1097280">
                  <a:extLst>
                    <a:ext uri="{9D8B030D-6E8A-4147-A177-3AD203B41FA5}">
                      <a16:colId xmlns:a16="http://schemas.microsoft.com/office/drawing/2014/main" val="20000"/>
                    </a:ext>
                  </a:extLst>
                </a:gridCol>
              </a:tblGrid>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v(in)</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v(out)</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i(V1)</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3" name="Text 3"/>
          <p:cNvSpPr txBox="1"/>
          <p:nvPr/>
        </p:nvSpPr>
        <p:spPr>
          <a:xfrm>
            <a:off x="5532120" y="1600200"/>
            <a:ext cx="274320" cy="13716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graphicFrame>
        <p:nvGraphicFramePr>
          <p:cNvPr id="22" name="Sources b"/>
          <p:cNvGraphicFramePr>
            <a:graphicFrameLocks noGrp="1"/>
          </p:cNvGraphicFramePr>
          <p:nvPr>
            <p:extLst>
              <p:ext uri="{D42A27DB-BD31-4B8C-83A1-F6EECF244321}">
                <p14:modId xmlns:p14="http://schemas.microsoft.com/office/powerpoint/2010/main" val="1579011935"/>
              </p:ext>
            </p:extLst>
          </p:nvPr>
        </p:nvGraphicFramePr>
        <p:xfrm>
          <a:off x="5852160" y="1600200"/>
          <a:ext cx="731520" cy="1371600"/>
        </p:xfrm>
        <a:graphic>
          <a:graphicData uri="http://schemas.openxmlformats.org/drawingml/2006/table">
            <a:tbl>
              <a:tblPr/>
              <a:tblGrid>
                <a:gridCol w="731520">
                  <a:extLst>
                    <a:ext uri="{9D8B030D-6E8A-4147-A177-3AD203B41FA5}">
                      <a16:colId xmlns:a16="http://schemas.microsoft.com/office/drawing/2014/main" val="20000"/>
                    </a:ext>
                  </a:extLst>
                </a:gridCol>
              </a:tblGrid>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400" dirty="0">
                          <a:solidFill>
                            <a:schemeClr val="tx1"/>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10" name="Solution card"/>
          <p:cNvSpPr/>
          <p:nvPr/>
        </p:nvSpPr>
        <p:spPr>
          <a:xfrm>
            <a:off x="6949440" y="1600200"/>
            <a:ext cx="1737360" cy="1371600"/>
          </a:xfrm>
          <a:prstGeom prst="rect">
            <a:avLst/>
          </a:prstGeom>
          <a:solidFill>
            <a:schemeClr val="tx1"/>
          </a:solidFill>
          <a:ln/>
        </p:spPr>
        <p:txBody>
          <a:bodyPr/>
          <a:lstStyle/>
          <a:p>
            <a:endParaRPr lang="en-AU"/>
          </a:p>
        </p:txBody>
      </p:sp>
      <p:sp>
        <p:nvSpPr>
          <p:cNvPr id="11" name="Text 5"/>
          <p:cNvSpPr txBox="1"/>
          <p:nvPr/>
        </p:nvSpPr>
        <p:spPr>
          <a:xfrm>
            <a:off x="7040880" y="1645920"/>
            <a:ext cx="1600200" cy="1280160"/>
          </a:xfrm>
          <a:prstGeom prst="rect">
            <a:avLst/>
          </a:prstGeom>
          <a:noFill/>
          <a:ln/>
        </p:spPr>
        <p:txBody>
          <a:bodyPr wrap="square" lIns="0" tIns="0" rIns="0" bIns="0" rtlCol="0" anchor="ctr"/>
          <a:lstStyle/>
          <a:p>
            <a:pPr marL="0" indent="0">
              <a:buNone/>
            </a:pPr>
            <a:r>
              <a:rPr lang="en-US" sz="1200" b="1" dirty="0">
                <a:solidFill>
                  <a:schemeClr val="accent3"/>
                </a:solidFill>
              </a:rPr>
              <a:t>Solution</a:t>
            </a:r>
            <a:endParaRPr lang="en-US" sz="1200" dirty="0"/>
          </a:p>
          <a:p>
            <a:pPr marL="0" indent="0">
              <a:buNone/>
            </a:pPr>
            <a:r>
              <a:rPr lang="en-US" sz="1400" b="1" dirty="0">
                <a:solidFill>
                  <a:schemeClr val="bg1"/>
                </a:solidFill>
              </a:rPr>
              <a:t>v(in) = 10 V</a:t>
            </a:r>
            <a:endParaRPr lang="en-US" sz="1200" dirty="0"/>
          </a:p>
          <a:p>
            <a:pPr marL="0" indent="0">
              <a:buNone/>
            </a:pPr>
            <a:r>
              <a:rPr lang="en-US" sz="1400" b="1" dirty="0">
                <a:solidFill>
                  <a:schemeClr val="accent4"/>
                </a:solidFill>
              </a:rPr>
              <a:t>v(out) = 7.5 V</a:t>
            </a:r>
            <a:endParaRPr lang="en-US" sz="1200" dirty="0"/>
          </a:p>
          <a:p>
            <a:pPr marL="0" indent="0">
              <a:buNone/>
            </a:pPr>
            <a:r>
              <a:rPr lang="en-US" sz="1400" b="1" dirty="0">
                <a:solidFill>
                  <a:schemeClr val="bg1"/>
                </a:solidFill>
              </a:rPr>
              <a:t>i(V1) = -2.5 mA</a:t>
            </a:r>
            <a:endParaRPr lang="en-US" sz="1200" dirty="0"/>
          </a:p>
        </p:txBody>
      </p:sp>
      <p:sp>
        <p:nvSpPr>
          <p:cNvPr id="12" name="Row note 1"/>
          <p:cNvSpPr/>
          <p:nvPr/>
        </p:nvSpPr>
        <p:spPr>
          <a:xfrm>
            <a:off x="457200" y="3291840"/>
            <a:ext cx="2651760" cy="1188720"/>
          </a:xfrm>
          <a:prstGeom prst="rect">
            <a:avLst/>
          </a:prstGeom>
          <a:solidFill>
            <a:schemeClr val="bg2"/>
          </a:solidFill>
          <a:ln/>
        </p:spPr>
        <p:txBody>
          <a:bodyPr/>
          <a:lstStyle/>
          <a:p>
            <a:endParaRPr lang="en-AU"/>
          </a:p>
        </p:txBody>
      </p:sp>
      <p:sp>
        <p:nvSpPr>
          <p:cNvPr id="13" name="Number 1"/>
          <p:cNvSpPr txBox="1"/>
          <p:nvPr/>
        </p:nvSpPr>
        <p:spPr>
          <a:xfrm>
            <a:off x="594360" y="3401568"/>
            <a:ext cx="329184" cy="329184"/>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1</a:t>
            </a:r>
            <a:endParaRPr lang="en-US" sz="2200" dirty="0"/>
          </a:p>
        </p:txBody>
      </p:sp>
      <p:sp>
        <p:nvSpPr>
          <p:cNvPr id="14" name="Text 8"/>
          <p:cNvSpPr txBox="1"/>
          <p:nvPr/>
        </p:nvSpPr>
        <p:spPr>
          <a:xfrm>
            <a:off x="594360" y="3767328"/>
            <a:ext cx="2423160" cy="685800"/>
          </a:xfrm>
          <a:prstGeom prst="rect">
            <a:avLst/>
          </a:prstGeom>
          <a:noFill/>
          <a:ln/>
        </p:spPr>
        <p:txBody>
          <a:bodyPr wrap="square" lIns="0" tIns="0" rIns="0" bIns="0" rtlCol="0" anchor="t"/>
          <a:lstStyle/>
          <a:p>
            <a:pPr marL="0" indent="0">
              <a:buNone/>
            </a:pPr>
            <a:r>
              <a:rPr lang="en-US" sz="1400" b="1" dirty="0">
                <a:solidFill>
                  <a:schemeClr val="tx1"/>
                </a:solidFill>
              </a:rPr>
              <a:t>Row 1: KCL at in</a:t>
            </a:r>
            <a:endParaRPr lang="en-US" sz="1400" dirty="0"/>
          </a:p>
          <a:p>
            <a:pPr marL="0" indent="0">
              <a:buNone/>
            </a:pPr>
            <a:r>
              <a:rPr lang="en-US" sz="1200" dirty="0">
                <a:solidFill>
                  <a:schemeClr val="accent6"/>
                </a:solidFill>
              </a:rPr>
              <a:t>current leaving through R1, plus the source current, is 0</a:t>
            </a:r>
            <a:endParaRPr lang="en-US" sz="1400" dirty="0"/>
          </a:p>
        </p:txBody>
      </p:sp>
      <p:sp>
        <p:nvSpPr>
          <p:cNvPr id="5" name="Row note 2"/>
          <p:cNvSpPr/>
          <p:nvPr/>
        </p:nvSpPr>
        <p:spPr>
          <a:xfrm>
            <a:off x="3246120" y="3291840"/>
            <a:ext cx="2651760" cy="1188720"/>
          </a:xfrm>
          <a:prstGeom prst="rect">
            <a:avLst/>
          </a:prstGeom>
          <a:solidFill>
            <a:schemeClr val="bg2"/>
          </a:solidFill>
          <a:ln/>
        </p:spPr>
        <p:txBody>
          <a:bodyPr/>
          <a:lstStyle/>
          <a:p>
            <a:endParaRPr lang="en-AU"/>
          </a:p>
        </p:txBody>
      </p:sp>
      <p:sp>
        <p:nvSpPr>
          <p:cNvPr id="16" name="Number 2"/>
          <p:cNvSpPr txBox="1"/>
          <p:nvPr/>
        </p:nvSpPr>
        <p:spPr>
          <a:xfrm>
            <a:off x="3383280" y="3401568"/>
            <a:ext cx="329184" cy="329184"/>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2</a:t>
            </a:r>
            <a:endParaRPr lang="en-US" sz="2200" dirty="0"/>
          </a:p>
        </p:txBody>
      </p:sp>
      <p:sp>
        <p:nvSpPr>
          <p:cNvPr id="17" name="Text 11"/>
          <p:cNvSpPr txBox="1"/>
          <p:nvPr/>
        </p:nvSpPr>
        <p:spPr>
          <a:xfrm>
            <a:off x="3383280" y="3767328"/>
            <a:ext cx="2423160" cy="685800"/>
          </a:xfrm>
          <a:prstGeom prst="rect">
            <a:avLst/>
          </a:prstGeom>
          <a:noFill/>
          <a:ln/>
        </p:spPr>
        <p:txBody>
          <a:bodyPr wrap="square" lIns="0" tIns="0" rIns="0" bIns="0" rtlCol="0" anchor="t"/>
          <a:lstStyle/>
          <a:p>
            <a:pPr marL="0" indent="0">
              <a:buNone/>
            </a:pPr>
            <a:r>
              <a:rPr lang="en-US" sz="1400" b="1" dirty="0">
                <a:solidFill>
                  <a:schemeClr val="tx1"/>
                </a:solidFill>
              </a:rPr>
              <a:t>Row 2: KCL at out</a:t>
            </a:r>
            <a:endParaRPr lang="en-US" sz="1400" dirty="0"/>
          </a:p>
          <a:p>
            <a:pPr marL="0" indent="0">
              <a:buNone/>
            </a:pPr>
            <a:r>
              <a:rPr lang="en-US" sz="1200" dirty="0">
                <a:solidFill>
                  <a:schemeClr val="accent6"/>
                </a:solidFill>
              </a:rPr>
              <a:t>1/1k + 1/3k = 0.001333 on the diagonal</a:t>
            </a:r>
            <a:endParaRPr lang="en-US" sz="1400" dirty="0"/>
          </a:p>
        </p:txBody>
      </p:sp>
      <p:sp>
        <p:nvSpPr>
          <p:cNvPr id="18" name="Row note 3"/>
          <p:cNvSpPr/>
          <p:nvPr/>
        </p:nvSpPr>
        <p:spPr>
          <a:xfrm>
            <a:off x="6035040" y="3291840"/>
            <a:ext cx="2651760" cy="1188720"/>
          </a:xfrm>
          <a:prstGeom prst="rect">
            <a:avLst/>
          </a:prstGeom>
          <a:solidFill>
            <a:schemeClr val="bg2"/>
          </a:solidFill>
          <a:ln/>
        </p:spPr>
        <p:txBody>
          <a:bodyPr/>
          <a:lstStyle/>
          <a:p>
            <a:endParaRPr lang="en-AU"/>
          </a:p>
        </p:txBody>
      </p:sp>
      <p:sp>
        <p:nvSpPr>
          <p:cNvPr id="19" name="Number 3"/>
          <p:cNvSpPr txBox="1"/>
          <p:nvPr/>
        </p:nvSpPr>
        <p:spPr>
          <a:xfrm>
            <a:off x="6172200" y="3401568"/>
            <a:ext cx="329184" cy="329184"/>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3</a:t>
            </a:r>
            <a:endParaRPr lang="en-US" sz="2200" dirty="0"/>
          </a:p>
        </p:txBody>
      </p:sp>
      <p:sp>
        <p:nvSpPr>
          <p:cNvPr id="20" name="Text 14"/>
          <p:cNvSpPr txBox="1"/>
          <p:nvPr/>
        </p:nvSpPr>
        <p:spPr>
          <a:xfrm>
            <a:off x="6172200" y="3767328"/>
            <a:ext cx="2423160" cy="685800"/>
          </a:xfrm>
          <a:prstGeom prst="rect">
            <a:avLst/>
          </a:prstGeom>
          <a:noFill/>
          <a:ln/>
        </p:spPr>
        <p:txBody>
          <a:bodyPr wrap="square" lIns="0" tIns="0" rIns="0" bIns="0" rtlCol="0" anchor="t"/>
          <a:lstStyle/>
          <a:p>
            <a:pPr marL="0" indent="0">
              <a:buNone/>
            </a:pPr>
            <a:r>
              <a:rPr lang="en-US" sz="1400" b="1" dirty="0">
                <a:solidFill>
                  <a:schemeClr val="tx1"/>
                </a:solidFill>
              </a:rPr>
              <a:t>Row 3: the source</a:t>
            </a:r>
            <a:endParaRPr lang="en-US" sz="1400" dirty="0"/>
          </a:p>
          <a:p>
            <a:pPr marL="0" indent="0">
              <a:buNone/>
            </a:pPr>
            <a:r>
              <a:rPr lang="en-US" sz="1200" dirty="0">
                <a:solidFill>
                  <a:schemeClr val="accent6"/>
                </a:solidFill>
              </a:rPr>
              <a:t>v(in) = 10, an extra equation for an extra unknown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Modified nodal analysis and stamps</a:t>
            </a:r>
            <a:endParaRPr lang="en-US" sz="3400" dirty="0"/>
          </a:p>
        </p:txBody>
      </p:sp>
      <p:sp>
        <p:nvSpPr>
          <p:cNvPr id="4" name="Why card"/>
          <p:cNvSpPr/>
          <p:nvPr/>
        </p:nvSpPr>
        <p:spPr>
          <a:xfrm>
            <a:off x="457200" y="1234440"/>
            <a:ext cx="3200400" cy="3246120"/>
          </a:xfrm>
          <a:prstGeom prst="rect">
            <a:avLst/>
          </a:prstGeom>
          <a:solidFill>
            <a:schemeClr val="tx1"/>
          </a:solidFill>
          <a:ln/>
        </p:spPr>
        <p:txBody>
          <a:bodyPr/>
          <a:lstStyle/>
          <a:p>
            <a:endParaRPr lang="en-AU"/>
          </a:p>
        </p:txBody>
      </p:sp>
      <p:sp>
        <p:nvSpPr>
          <p:cNvPr id="5" name="Text 2"/>
          <p:cNvSpPr txBox="1"/>
          <p:nvPr/>
        </p:nvSpPr>
        <p:spPr>
          <a:xfrm>
            <a:off x="640080" y="1371600"/>
            <a:ext cx="2834640" cy="2971800"/>
          </a:xfrm>
          <a:prstGeom prst="rect">
            <a:avLst/>
          </a:prstGeom>
          <a:noFill/>
          <a:ln/>
        </p:spPr>
        <p:txBody>
          <a:bodyPr wrap="square" lIns="0" tIns="0" rIns="0" bIns="0" rtlCol="0" anchor="t"/>
          <a:lstStyle/>
          <a:p>
            <a:pPr marL="0" indent="0">
              <a:buNone/>
            </a:pPr>
            <a:r>
              <a:rPr lang="en-US" sz="1600" b="1" dirty="0">
                <a:solidFill>
                  <a:schemeClr val="accent3"/>
                </a:solidFill>
              </a:rPr>
              <a:t>Why "modified"?</a:t>
            </a:r>
            <a:endParaRPr lang="en-US" sz="1600" dirty="0"/>
          </a:p>
          <a:p>
            <a:pPr marL="0" indent="0">
              <a:buNone/>
            </a:pPr>
            <a:r>
              <a:rPr lang="en-US" sz="1400" dirty="0">
                <a:solidFill>
                  <a:schemeClr val="bg1"/>
                </a:solidFill>
              </a:rPr>
              <a:t>A voltage source fixes v and accepts any current.</a:t>
            </a:r>
            <a:endParaRPr lang="en-US" sz="1600" dirty="0"/>
          </a:p>
          <a:p>
            <a:pPr marL="0" indent="0">
              <a:buNone/>
            </a:pPr>
            <a:r>
              <a:rPr lang="en-US" sz="600" dirty="0">
                <a:solidFill>
                  <a:srgbClr val="000000"/>
                </a:solidFill>
              </a:rPr>
              <a:t> </a:t>
            </a:r>
            <a:endParaRPr lang="en-US" sz="1600" dirty="0"/>
          </a:p>
          <a:p>
            <a:pPr marL="0" indent="0">
              <a:buNone/>
            </a:pPr>
            <a:r>
              <a:rPr lang="en-US" sz="1400" dirty="0">
                <a:solidFill>
                  <a:schemeClr val="bg1"/>
                </a:solidFill>
              </a:rPr>
              <a:t>So its current becomes an extra unknown, with an extra row: v(p) - v(n) = V.</a:t>
            </a:r>
            <a:endParaRPr lang="en-US" sz="1600" dirty="0"/>
          </a:p>
          <a:p>
            <a:pPr marL="0" indent="0">
              <a:buNone/>
            </a:pPr>
            <a:r>
              <a:rPr lang="en-US" sz="600" dirty="0">
                <a:solidFill>
                  <a:srgbClr val="000000"/>
                </a:solidFill>
              </a:rPr>
              <a:t> </a:t>
            </a:r>
            <a:endParaRPr lang="en-US" sz="1600" dirty="0"/>
          </a:p>
          <a:p>
            <a:pPr marL="0" indent="0">
              <a:buNone/>
            </a:pPr>
            <a:r>
              <a:rPr lang="en-US" sz="1400" b="1" dirty="0">
                <a:solidFill>
                  <a:schemeClr val="accent4"/>
                </a:solidFill>
              </a:rPr>
              <a:t>Ground has no row at all: pins on ground are skipped.</a:t>
            </a:r>
            <a:endParaRPr lang="en-US" sz="1600" dirty="0"/>
          </a:p>
        </p:txBody>
      </p:sp>
      <p:graphicFrame>
        <p:nvGraphicFramePr>
          <p:cNvPr id="9" name="Stamp table"/>
          <p:cNvGraphicFramePr>
            <a:graphicFrameLocks noGrp="1"/>
          </p:cNvGraphicFramePr>
          <p:nvPr>
            <p:extLst>
              <p:ext uri="{D42A27DB-BD31-4B8C-83A1-F6EECF244321}">
                <p14:modId xmlns:p14="http://schemas.microsoft.com/office/powerpoint/2010/main" val="1579011935"/>
              </p:ext>
            </p:extLst>
          </p:nvPr>
        </p:nvGraphicFramePr>
        <p:xfrm>
          <a:off x="3886200" y="1234440"/>
          <a:ext cx="4800600" cy="3246120"/>
        </p:xfrm>
        <a:graphic>
          <a:graphicData uri="http://schemas.openxmlformats.org/drawingml/2006/table">
            <a:tbl>
              <a:tblPr/>
              <a:tblGrid>
                <a:gridCol w="13258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65760">
                <a:tc>
                  <a:txBody>
                    <a:bodyPr/>
                    <a:lstStyle/>
                    <a:p>
                      <a:pPr marL="0" indent="0">
                        <a:buNone/>
                      </a:pPr>
                      <a:r>
                        <a:rPr lang="en-US" sz="1300" b="1" dirty="0">
                          <a:solidFill>
                            <a:schemeClr val="bg1"/>
                          </a:solidFill>
                        </a:rPr>
                        <a:t>Device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accent6"/>
                    </a:solidFill>
                  </a:tcPr>
                </a:tc>
                <a:tc>
                  <a:txBody>
                    <a:bodyPr/>
                    <a:lstStyle/>
                    <a:p>
                      <a:pPr marL="0" indent="0">
                        <a:buNone/>
                      </a:pPr>
                      <a:r>
                        <a:rPr lang="en-US" sz="1300" b="1" dirty="0">
                          <a:solidFill>
                            <a:schemeClr val="bg1"/>
                          </a:solidFill>
                        </a:rPr>
                        <a:t>What it stamps (p, n = its nodes)</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1"/>
                          </a:solidFill>
                        </a:rPr>
                        <a:t>Resistor</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+g at [p,p] and [n,n]; -g at [p,n] and [n,p]; g = 1/R</a:t>
                      </a:r>
                      <a:endParaRPr lang="en-US" sz="12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chemeClr val="tx1"/>
                          </a:solidFill>
                        </a:rPr>
                        <a:t>Current source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b[p] -= I and b[n] += I</a:t>
                      </a:r>
                      <a:endParaRPr lang="en-US" sz="12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1"/>
                          </a:solidFill>
                        </a:rPr>
                        <a:t>Voltage source</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 in its branch row and column; b[row] = V</a:t>
                      </a:r>
                      <a:endParaRPr lang="en-US" sz="12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300" b="1" dirty="0">
                          <a:solidFill>
                            <a:schemeClr val="tx1"/>
                          </a:solidFill>
                        </a:rPr>
                        <a:t>Capacitor</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branch row: i - C d(vp - vn)/dt = 0, so C[row,p] = -C</a:t>
                      </a:r>
                      <a:endParaRPr lang="en-US" sz="12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4"/>
                  </a:ext>
                </a:extLst>
              </a:tr>
              <a:tr h="603504">
                <a:tc>
                  <a:txBody>
                    <a:bodyPr/>
                    <a:lstStyle/>
                    <a:p>
                      <a:pPr marL="0" indent="0">
                        <a:buNone/>
                      </a:pPr>
                      <a:r>
                        <a:rPr lang="en-US" sz="1300" b="1" dirty="0">
                          <a:solidFill>
                            <a:schemeClr val="tx1"/>
                          </a:solidFill>
                        </a:rPr>
                        <a:t>Inductor</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v(p) - v(n) - L di/dt = 0, so C[row,row] = -L</a:t>
                      </a:r>
                      <a:endParaRPr lang="en-US" sz="12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One equation, three analyses</a:t>
            </a:r>
            <a:endParaRPr lang="en-US" sz="3400" dirty="0"/>
          </a:p>
        </p:txBody>
      </p:sp>
      <p:sp>
        <p:nvSpPr>
          <p:cNvPr id="4" name="Equation card"/>
          <p:cNvSpPr/>
          <p:nvPr/>
        </p:nvSpPr>
        <p:spPr>
          <a:xfrm>
            <a:off x="457200" y="1234440"/>
            <a:ext cx="4023360" cy="777240"/>
          </a:xfrm>
          <a:prstGeom prst="rect">
            <a:avLst/>
          </a:prstGeom>
          <a:solidFill>
            <a:schemeClr val="tx1"/>
          </a:solidFill>
          <a:ln/>
        </p:spPr>
        <p:txBody>
          <a:bodyPr/>
          <a:lstStyle/>
          <a:p>
            <a:endParaRPr lang="en-AU"/>
          </a:p>
        </p:txBody>
      </p:sp>
      <p:sp>
        <p:nvSpPr>
          <p:cNvPr id="5" name="Text 2"/>
          <p:cNvSpPr txBox="1"/>
          <p:nvPr/>
        </p:nvSpPr>
        <p:spPr>
          <a:xfrm>
            <a:off x="548640" y="1234440"/>
            <a:ext cx="3840480" cy="777240"/>
          </a:xfrm>
          <a:prstGeom prst="rect">
            <a:avLst/>
          </a:prstGeom>
          <a:noFill/>
          <a:ln/>
        </p:spPr>
        <p:txBody>
          <a:bodyPr wrap="square" lIns="0" tIns="0" rIns="0" bIns="0" rtlCol="0" anchor="ctr"/>
          <a:lstStyle/>
          <a:p>
            <a:pPr marL="0" indent="0" algn="ctr">
              <a:buNone/>
            </a:pPr>
            <a:r>
              <a:rPr lang="en-US" sz="1400" b="1" dirty="0">
                <a:solidFill>
                  <a:schemeClr val="accent4"/>
                </a:solidFill>
                <a:latin typeface="Courier New" pitchFamily="34" charset="0"/>
                <a:ea typeface="Courier New" pitchFamily="34" charset="-122"/>
                <a:cs typeface="Courier New" pitchFamily="34" charset="-120"/>
              </a:rPr>
              <a:t>G x + C dx/dt + i_nl(x) = b(t)</a:t>
            </a:r>
            <a:endParaRPr lang="en-US" sz="1400" dirty="0"/>
          </a:p>
        </p:txBody>
      </p:sp>
      <p:sp>
        <p:nvSpPr>
          <p:cNvPr id="6" name="DC card"/>
          <p:cNvSpPr/>
          <p:nvPr/>
        </p:nvSpPr>
        <p:spPr>
          <a:xfrm>
            <a:off x="457200" y="2148840"/>
            <a:ext cx="4023360" cy="1097280"/>
          </a:xfrm>
          <a:prstGeom prst="rect">
            <a:avLst/>
          </a:prstGeom>
          <a:solidFill>
            <a:schemeClr val="bg2"/>
          </a:solidFill>
          <a:ln/>
        </p:spPr>
        <p:txBody>
          <a:bodyPr/>
          <a:lstStyle/>
          <a:p>
            <a:endParaRPr lang="en-AU"/>
          </a:p>
        </p:txBody>
      </p:sp>
      <p:sp>
        <p:nvSpPr>
          <p:cNvPr id="7" name="Text 4"/>
          <p:cNvSpPr txBox="1"/>
          <p:nvPr/>
        </p:nvSpPr>
        <p:spPr>
          <a:xfrm>
            <a:off x="640080" y="2194560"/>
            <a:ext cx="3657600" cy="1005840"/>
          </a:xfrm>
          <a:prstGeom prst="rect">
            <a:avLst/>
          </a:prstGeom>
          <a:noFill/>
          <a:ln/>
        </p:spPr>
        <p:txBody>
          <a:bodyPr wrap="square" lIns="0" tIns="0" rIns="0" bIns="0" rtlCol="0" anchor="ctr"/>
          <a:lstStyle/>
          <a:p>
            <a:pPr marL="0" indent="0">
              <a:buNone/>
            </a:pPr>
            <a:r>
              <a:rPr lang="en-US" sz="1500" b="1" dirty="0">
                <a:solidFill>
                  <a:schemeClr val="tx1"/>
                </a:solidFill>
              </a:rPr>
              <a:t>DC: the C term vanishes</a:t>
            </a:r>
            <a:endParaRPr lang="en-US" sz="1500" dirty="0"/>
          </a:p>
          <a:p>
            <a:pPr marL="0" indent="0">
              <a:buNone/>
            </a:pPr>
            <a:r>
              <a:rPr lang="en-US" sz="1300" dirty="0">
                <a:solidFill>
                  <a:schemeClr val="tx1"/>
                </a:solidFill>
              </a:rPr>
              <a:t>Capacitor row says i = 0 (open), inductor row says v = 0 (short). Nothing special-cased.</a:t>
            </a:r>
            <a:endParaRPr lang="en-US" sz="1500" dirty="0"/>
          </a:p>
        </p:txBody>
      </p:sp>
      <p:sp>
        <p:nvSpPr>
          <p:cNvPr id="8" name="AC card"/>
          <p:cNvSpPr/>
          <p:nvPr/>
        </p:nvSpPr>
        <p:spPr>
          <a:xfrm>
            <a:off x="457200" y="3383280"/>
            <a:ext cx="4023360" cy="1097280"/>
          </a:xfrm>
          <a:prstGeom prst="rect">
            <a:avLst/>
          </a:prstGeom>
          <a:solidFill>
            <a:schemeClr val="bg2"/>
          </a:solidFill>
          <a:ln/>
        </p:spPr>
        <p:txBody>
          <a:bodyPr/>
          <a:lstStyle/>
          <a:p>
            <a:endParaRPr lang="en-AU"/>
          </a:p>
        </p:txBody>
      </p:sp>
      <p:sp>
        <p:nvSpPr>
          <p:cNvPr id="9" name="Text 6"/>
          <p:cNvSpPr txBox="1"/>
          <p:nvPr/>
        </p:nvSpPr>
        <p:spPr>
          <a:xfrm>
            <a:off x="640080" y="3429000"/>
            <a:ext cx="3657600" cy="1005840"/>
          </a:xfrm>
          <a:prstGeom prst="rect">
            <a:avLst/>
          </a:prstGeom>
          <a:noFill/>
          <a:ln/>
        </p:spPr>
        <p:txBody>
          <a:bodyPr wrap="square" lIns="0" tIns="0" rIns="0" bIns="0" rtlCol="0" anchor="ctr"/>
          <a:lstStyle/>
          <a:p>
            <a:pPr marL="0" indent="0">
              <a:buNone/>
            </a:pPr>
            <a:r>
              <a:rPr lang="en-US" sz="1500" b="1" dirty="0">
                <a:solidFill>
                  <a:schemeClr val="tx1"/>
                </a:solidFill>
              </a:rPr>
              <a:t>AC: d/dt becomes jω</a:t>
            </a:r>
            <a:endParaRPr lang="en-US" sz="1500" dirty="0"/>
          </a:p>
          <a:p>
            <a:pPr marL="0" indent="0">
              <a:buNone/>
            </a:pPr>
            <a:r>
              <a:rPr lang="en-US" sz="1300" dirty="0">
                <a:solidFill>
                  <a:schemeClr val="tx1"/>
                </a:solidFill>
              </a:rPr>
              <a:t>(G + jωC) X = B: same matrix, complex numbers, one solve per frequency.</a:t>
            </a:r>
            <a:endParaRPr lang="en-US" sz="1500" dirty="0"/>
          </a:p>
        </p:txBody>
      </p:sp>
      <p:graphicFrame>
        <p:nvGraphicFramePr>
          <p:cNvPr id="10" name="Chart 0"/>
          <p:cNvGraphicFramePr/>
          <p:nvPr/>
        </p:nvGraphicFramePr>
        <p:xfrm>
          <a:off x="4663440" y="1188720"/>
          <a:ext cx="40233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1" name="Corner chip"/>
          <p:cNvSpPr/>
          <p:nvPr/>
        </p:nvSpPr>
        <p:spPr>
          <a:xfrm>
            <a:off x="4663440" y="4114800"/>
            <a:ext cx="4023360" cy="365760"/>
          </a:xfrm>
          <a:prstGeom prst="rect">
            <a:avLst/>
          </a:prstGeom>
          <a:solidFill>
            <a:schemeClr val="accent1"/>
          </a:solidFill>
          <a:ln/>
        </p:spPr>
        <p:txBody>
          <a:bodyPr/>
          <a:lstStyle/>
          <a:p>
            <a:endParaRPr lang="en-AU"/>
          </a:p>
        </p:txBody>
      </p:sp>
      <p:sp>
        <p:nvSpPr>
          <p:cNvPr id="12" name="Text 8"/>
          <p:cNvSpPr txBox="1"/>
          <p:nvPr/>
        </p:nvSpPr>
        <p:spPr>
          <a:xfrm>
            <a:off x="4663440" y="4114800"/>
            <a:ext cx="4023360" cy="365760"/>
          </a:xfrm>
          <a:prstGeom prst="rect">
            <a:avLst/>
          </a:prstGeom>
          <a:noFill/>
          <a:ln/>
        </p:spPr>
        <p:txBody>
          <a:bodyPr wrap="square" lIns="0" tIns="0" rIns="0" bIns="0" rtlCol="0" anchor="ctr"/>
          <a:lstStyle/>
          <a:p>
            <a:pPr marL="0" indent="0" algn="ctr">
              <a:buNone/>
            </a:pPr>
            <a:r>
              <a:rPr lang="en-US" sz="1400" b="1" dirty="0">
                <a:solidFill>
                  <a:schemeClr val="bg1"/>
                </a:solidFill>
              </a:rPr>
              <a:t>Corner at 159.15 Hz: -3.01 dB and -45°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Transient analysis: stepping through time</a:t>
            </a:r>
            <a:endParaRPr lang="en-US" sz="3400" dirty="0"/>
          </a:p>
        </p:txBody>
      </p:sp>
      <p:sp>
        <p:nvSpPr>
          <p:cNvPr id="4" name="Euler card"/>
          <p:cNvSpPr/>
          <p:nvPr/>
        </p:nvSpPr>
        <p:spPr>
          <a:xfrm>
            <a:off x="457200" y="1188720"/>
            <a:ext cx="4114800" cy="1097280"/>
          </a:xfrm>
          <a:prstGeom prst="rect">
            <a:avLst/>
          </a:prstGeom>
          <a:solidFill>
            <a:schemeClr val="tx1"/>
          </a:solidFill>
          <a:ln/>
        </p:spPr>
        <p:txBody>
          <a:bodyPr/>
          <a:lstStyle/>
          <a:p>
            <a:endParaRPr lang="en-AU"/>
          </a:p>
        </p:txBody>
      </p:sp>
      <p:sp>
        <p:nvSpPr>
          <p:cNvPr id="5" name="Text 2"/>
          <p:cNvSpPr txBox="1"/>
          <p:nvPr/>
        </p:nvSpPr>
        <p:spPr>
          <a:xfrm>
            <a:off x="640080" y="1234440"/>
            <a:ext cx="3840480" cy="1005840"/>
          </a:xfrm>
          <a:prstGeom prst="rect">
            <a:avLst/>
          </a:prstGeom>
          <a:noFill/>
          <a:ln/>
        </p:spPr>
        <p:txBody>
          <a:bodyPr wrap="square" lIns="0" tIns="0" rIns="0" bIns="0" rtlCol="0" anchor="ctr"/>
          <a:lstStyle/>
          <a:p>
            <a:pPr marL="0" indent="0">
              <a:buNone/>
            </a:pPr>
            <a:r>
              <a:rPr lang="en-US" sz="1300" b="1" dirty="0">
                <a:solidFill>
                  <a:schemeClr val="accent3"/>
                </a:solidFill>
              </a:rPr>
              <a:t>Backward Euler  (rectangle rule)</a:t>
            </a:r>
            <a:endParaRPr lang="en-US" sz="1300" dirty="0"/>
          </a:p>
          <a:p>
            <a:pPr marL="0" indent="0">
              <a:buNone/>
            </a:pPr>
            <a:r>
              <a:rPr lang="en-US" sz="1200" dirty="0">
                <a:solidFill>
                  <a:schemeClr val="bg1"/>
                </a:solidFill>
                <a:latin typeface="Courier New" pitchFamily="34" charset="0"/>
                <a:ea typeface="Courier New" pitchFamily="34" charset="-122"/>
                <a:cs typeface="Courier New" pitchFamily="34" charset="-120"/>
              </a:rPr>
              <a:t>(G + C/h) x_k = b_k + (C/h) x_k-1</a:t>
            </a:r>
            <a:endParaRPr lang="en-US" sz="1300" dirty="0"/>
          </a:p>
        </p:txBody>
      </p:sp>
      <p:sp>
        <p:nvSpPr>
          <p:cNvPr id="6" name="Trap card"/>
          <p:cNvSpPr/>
          <p:nvPr/>
        </p:nvSpPr>
        <p:spPr>
          <a:xfrm>
            <a:off x="457200" y="2377440"/>
            <a:ext cx="4114800" cy="1188720"/>
          </a:xfrm>
          <a:prstGeom prst="rect">
            <a:avLst/>
          </a:prstGeom>
          <a:solidFill>
            <a:schemeClr val="tx1"/>
          </a:solidFill>
          <a:ln/>
        </p:spPr>
        <p:txBody>
          <a:bodyPr/>
          <a:lstStyle/>
          <a:p>
            <a:endParaRPr lang="en-AU"/>
          </a:p>
        </p:txBody>
      </p:sp>
      <p:sp>
        <p:nvSpPr>
          <p:cNvPr id="7" name="Text 4"/>
          <p:cNvSpPr txBox="1"/>
          <p:nvPr/>
        </p:nvSpPr>
        <p:spPr>
          <a:xfrm>
            <a:off x="640080" y="2423160"/>
            <a:ext cx="3840480" cy="1097280"/>
          </a:xfrm>
          <a:prstGeom prst="rect">
            <a:avLst/>
          </a:prstGeom>
          <a:noFill/>
          <a:ln/>
        </p:spPr>
        <p:txBody>
          <a:bodyPr wrap="square" lIns="0" tIns="0" rIns="0" bIns="0" rtlCol="0" anchor="ctr"/>
          <a:lstStyle/>
          <a:p>
            <a:pPr marL="0" indent="0">
              <a:buNone/>
            </a:pPr>
            <a:r>
              <a:rPr lang="en-US" sz="1300" b="1" dirty="0">
                <a:solidFill>
                  <a:schemeClr val="accent3"/>
                </a:solidFill>
              </a:rPr>
              <a:t>Trapezoidal  (trapezoid rule)</a:t>
            </a:r>
            <a:endParaRPr lang="en-US" sz="1300" dirty="0"/>
          </a:p>
          <a:p>
            <a:pPr marL="0" indent="0">
              <a:buNone/>
            </a:pPr>
            <a:r>
              <a:rPr lang="en-US" sz="1200" dirty="0">
                <a:solidFill>
                  <a:schemeClr val="bg1"/>
                </a:solidFill>
                <a:latin typeface="Courier New" pitchFamily="34" charset="0"/>
                <a:ea typeface="Courier New" pitchFamily="34" charset="-122"/>
                <a:cs typeface="Courier New" pitchFamily="34" charset="-120"/>
              </a:rPr>
              <a:t>(G + 2C/h) x_k =</a:t>
            </a:r>
            <a:endParaRPr lang="en-US" sz="1300" dirty="0"/>
          </a:p>
          <a:p>
            <a:pPr marL="0" indent="0">
              <a:buNone/>
            </a:pPr>
            <a:r>
              <a:rPr lang="en-US" sz="1200" dirty="0">
                <a:solidFill>
                  <a:schemeClr val="bg1"/>
                </a:solidFill>
                <a:latin typeface="Courier New" pitchFamily="34" charset="0"/>
                <a:ea typeface="Courier New" pitchFamily="34" charset="-122"/>
                <a:cs typeface="Courier New" pitchFamily="34" charset="-120"/>
              </a:rPr>
              <a:t>  b_k + b_k-1 + (2C/h - G) x_k-1</a:t>
            </a:r>
            <a:endParaRPr lang="en-US" sz="1300" dirty="0"/>
          </a:p>
        </p:txBody>
      </p:sp>
      <p:sp>
        <p:nvSpPr>
          <p:cNvPr id="8" name="Companion card"/>
          <p:cNvSpPr/>
          <p:nvPr/>
        </p:nvSpPr>
        <p:spPr>
          <a:xfrm>
            <a:off x="457200" y="3703320"/>
            <a:ext cx="4114800" cy="777240"/>
          </a:xfrm>
          <a:prstGeom prst="rect">
            <a:avLst/>
          </a:prstGeom>
          <a:solidFill>
            <a:schemeClr val="accent1"/>
          </a:solidFill>
          <a:ln/>
        </p:spPr>
        <p:txBody>
          <a:bodyPr/>
          <a:lstStyle/>
          <a:p>
            <a:endParaRPr lang="en-AU"/>
          </a:p>
        </p:txBody>
      </p:sp>
      <p:sp>
        <p:nvSpPr>
          <p:cNvPr id="9" name="Text 6"/>
          <p:cNvSpPr txBox="1"/>
          <p:nvPr/>
        </p:nvSpPr>
        <p:spPr>
          <a:xfrm>
            <a:off x="640080" y="3703320"/>
            <a:ext cx="3749040" cy="777240"/>
          </a:xfrm>
          <a:prstGeom prst="rect">
            <a:avLst/>
          </a:prstGeom>
          <a:noFill/>
          <a:ln/>
        </p:spPr>
        <p:txBody>
          <a:bodyPr wrap="square" lIns="0" tIns="0" rIns="0" bIns="0" rtlCol="0" anchor="ctr"/>
          <a:lstStyle/>
          <a:p>
            <a:pPr marL="0" indent="0">
              <a:buNone/>
            </a:pPr>
            <a:r>
              <a:rPr lang="en-US" sz="1300" b="1" dirty="0">
                <a:solidFill>
                  <a:schemeClr val="bg1"/>
                </a:solidFill>
              </a:rPr>
              <a:t>A capacitor becomes a conductance C/h plus a current source that remembers the past.</a:t>
            </a:r>
            <a:endParaRPr lang="en-US" sz="1300" dirty="0"/>
          </a:p>
        </p:txBody>
      </p:sp>
      <p:graphicFrame>
        <p:nvGraphicFramePr>
          <p:cNvPr id="10" name="Chart 0"/>
          <p:cNvGraphicFramePr/>
          <p:nvPr/>
        </p:nvGraphicFramePr>
        <p:xfrm>
          <a:off x="4754880" y="1188720"/>
          <a:ext cx="39319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Nonlinear devices and Newton's method</a:t>
            </a:r>
            <a:endParaRPr lang="en-US" sz="3400" dirty="0"/>
          </a:p>
        </p:txBody>
      </p:sp>
      <p:sp>
        <p:nvSpPr>
          <p:cNvPr id="4" name="Number 1"/>
          <p:cNvSpPr txBox="1"/>
          <p:nvPr/>
        </p:nvSpPr>
        <p:spPr>
          <a:xfrm>
            <a:off x="457200" y="1298448"/>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1</a:t>
            </a:r>
            <a:endParaRPr lang="en-US" sz="2200" dirty="0"/>
          </a:p>
        </p:txBody>
      </p:sp>
      <p:sp>
        <p:nvSpPr>
          <p:cNvPr id="5" name="Text 2"/>
          <p:cNvSpPr txBox="1"/>
          <p:nvPr/>
        </p:nvSpPr>
        <p:spPr>
          <a:xfrm>
            <a:off x="1005840" y="1188720"/>
            <a:ext cx="3291840" cy="640080"/>
          </a:xfrm>
          <a:prstGeom prst="rect">
            <a:avLst/>
          </a:prstGeom>
          <a:noFill/>
          <a:ln/>
        </p:spPr>
        <p:txBody>
          <a:bodyPr wrap="square" lIns="0" tIns="0" rIns="0" bIns="0" rtlCol="0" anchor="ctr"/>
          <a:lstStyle/>
          <a:p>
            <a:pPr marL="0" indent="0">
              <a:buNone/>
            </a:pPr>
            <a:r>
              <a:rPr lang="en-US" sz="1400" b="1" dirty="0">
                <a:solidFill>
                  <a:schemeClr val="tx1"/>
                </a:solidFill>
              </a:rPr>
              <a:t>Replace the diode by its tangent</a:t>
            </a:r>
            <a:endParaRPr lang="en-US" sz="1400" dirty="0"/>
          </a:p>
          <a:p>
            <a:pPr marL="0" indent="0">
              <a:buNone/>
            </a:pPr>
            <a:r>
              <a:rPr lang="en-US" sz="1200" dirty="0">
                <a:solidFill>
                  <a:schemeClr val="accent6"/>
                </a:solidFill>
                <a:latin typeface="Courier New" pitchFamily="34" charset="0"/>
                <a:ea typeface="Courier New" pitchFamily="34" charset="-122"/>
                <a:cs typeface="Courier New" pitchFamily="34" charset="-120"/>
              </a:rPr>
              <a:t>conductance g = dI/dV</a:t>
            </a:r>
            <a:endParaRPr lang="en-US" sz="1400" dirty="0"/>
          </a:p>
        </p:txBody>
      </p:sp>
      <p:sp>
        <p:nvSpPr>
          <p:cNvPr id="6" name="Number 2"/>
          <p:cNvSpPr txBox="1"/>
          <p:nvPr/>
        </p:nvSpPr>
        <p:spPr>
          <a:xfrm>
            <a:off x="457200" y="2048256"/>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2</a:t>
            </a:r>
            <a:endParaRPr lang="en-US" sz="2200" dirty="0"/>
          </a:p>
        </p:txBody>
      </p:sp>
      <p:sp>
        <p:nvSpPr>
          <p:cNvPr id="7" name="Text 4"/>
          <p:cNvSpPr txBox="1"/>
          <p:nvPr/>
        </p:nvSpPr>
        <p:spPr>
          <a:xfrm>
            <a:off x="1005840" y="1938528"/>
            <a:ext cx="3291840" cy="640080"/>
          </a:xfrm>
          <a:prstGeom prst="rect">
            <a:avLst/>
          </a:prstGeom>
          <a:noFill/>
          <a:ln/>
        </p:spPr>
        <p:txBody>
          <a:bodyPr wrap="square" lIns="0" tIns="0" rIns="0" bIns="0" rtlCol="0" anchor="ctr"/>
          <a:lstStyle/>
          <a:p>
            <a:pPr marL="0" indent="0">
              <a:buNone/>
            </a:pPr>
            <a:r>
              <a:rPr lang="en-US" sz="1400" b="1" dirty="0">
                <a:solidFill>
                  <a:schemeClr val="tx1"/>
                </a:solidFill>
              </a:rPr>
              <a:t>Add the leftover current source</a:t>
            </a:r>
            <a:endParaRPr lang="en-US" sz="1400" dirty="0"/>
          </a:p>
          <a:p>
            <a:pPr marL="0" indent="0">
              <a:buNone/>
            </a:pPr>
            <a:r>
              <a:rPr lang="en-US" sz="1200" dirty="0">
                <a:solidFill>
                  <a:schemeClr val="accent6"/>
                </a:solidFill>
                <a:latin typeface="Courier New" pitchFamily="34" charset="0"/>
                <a:ea typeface="Courier New" pitchFamily="34" charset="-122"/>
                <a:cs typeface="Courier New" pitchFamily="34" charset="-120"/>
              </a:rPr>
              <a:t>I0 = I(v*) - g v*</a:t>
            </a:r>
            <a:endParaRPr lang="en-US" sz="1400" dirty="0"/>
          </a:p>
        </p:txBody>
      </p:sp>
      <p:sp>
        <p:nvSpPr>
          <p:cNvPr id="8" name="Number 3"/>
          <p:cNvSpPr txBox="1"/>
          <p:nvPr/>
        </p:nvSpPr>
        <p:spPr>
          <a:xfrm>
            <a:off x="457200" y="2798064"/>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3</a:t>
            </a:r>
            <a:endParaRPr lang="en-US" sz="2200" dirty="0"/>
          </a:p>
        </p:txBody>
      </p:sp>
      <p:sp>
        <p:nvSpPr>
          <p:cNvPr id="9" name="Text 6"/>
          <p:cNvSpPr txBox="1"/>
          <p:nvPr/>
        </p:nvSpPr>
        <p:spPr>
          <a:xfrm>
            <a:off x="1005840" y="2688336"/>
            <a:ext cx="3291840" cy="640080"/>
          </a:xfrm>
          <a:prstGeom prst="rect">
            <a:avLst/>
          </a:prstGeom>
          <a:noFill/>
          <a:ln/>
        </p:spPr>
        <p:txBody>
          <a:bodyPr wrap="square" lIns="0" tIns="0" rIns="0" bIns="0" rtlCol="0" anchor="ctr"/>
          <a:lstStyle/>
          <a:p>
            <a:pPr marL="0" indent="0">
              <a:buNone/>
            </a:pPr>
            <a:r>
              <a:rPr lang="en-US" sz="1400" b="1" dirty="0">
                <a:solidFill>
                  <a:schemeClr val="tx1"/>
                </a:solidFill>
              </a:rPr>
              <a:t>Solve the resistor network</a:t>
            </a:r>
            <a:endParaRPr lang="en-US" sz="1400" dirty="0"/>
          </a:p>
          <a:p>
            <a:pPr marL="0" indent="0">
              <a:buNone/>
            </a:pPr>
            <a:r>
              <a:rPr lang="en-US" sz="1200" dirty="0">
                <a:solidFill>
                  <a:schemeClr val="accent6"/>
                </a:solidFill>
                <a:latin typeface="Courier New" pitchFamily="34" charset="0"/>
                <a:ea typeface="Courier New" pitchFamily="34" charset="-122"/>
                <a:cs typeface="Courier New" pitchFamily="34" charset="-120"/>
              </a:rPr>
              <a:t>same code as DC</a:t>
            </a:r>
            <a:endParaRPr lang="en-US" sz="1400" dirty="0"/>
          </a:p>
        </p:txBody>
      </p:sp>
      <p:sp>
        <p:nvSpPr>
          <p:cNvPr id="10" name="Number 4"/>
          <p:cNvSpPr txBox="1"/>
          <p:nvPr/>
        </p:nvSpPr>
        <p:spPr>
          <a:xfrm>
            <a:off x="457200" y="3547872"/>
            <a:ext cx="402336" cy="402336"/>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4</a:t>
            </a:r>
            <a:endParaRPr lang="en-US" sz="2200" dirty="0"/>
          </a:p>
        </p:txBody>
      </p:sp>
      <p:sp>
        <p:nvSpPr>
          <p:cNvPr id="11" name="Text 8"/>
          <p:cNvSpPr txBox="1"/>
          <p:nvPr/>
        </p:nvSpPr>
        <p:spPr>
          <a:xfrm>
            <a:off x="1005840" y="3438144"/>
            <a:ext cx="3291840" cy="640080"/>
          </a:xfrm>
          <a:prstGeom prst="rect">
            <a:avLst/>
          </a:prstGeom>
          <a:noFill/>
          <a:ln/>
        </p:spPr>
        <p:txBody>
          <a:bodyPr wrap="square" lIns="0" tIns="0" rIns="0" bIns="0" rtlCol="0" anchor="ctr"/>
          <a:lstStyle/>
          <a:p>
            <a:pPr marL="0" indent="0">
              <a:buNone/>
            </a:pPr>
            <a:r>
              <a:rPr lang="en-US" sz="1400" b="1" dirty="0">
                <a:solidFill>
                  <a:schemeClr val="tx1"/>
                </a:solidFill>
              </a:rPr>
              <a:t>Repeat from the new voltage</a:t>
            </a:r>
            <a:endParaRPr lang="en-US" sz="1400" dirty="0"/>
          </a:p>
          <a:p>
            <a:pPr marL="0" indent="0">
              <a:buNone/>
            </a:pPr>
            <a:r>
              <a:rPr lang="en-US" sz="1200" dirty="0">
                <a:solidFill>
                  <a:schemeClr val="accent6"/>
                </a:solidFill>
                <a:latin typeface="Courier New" pitchFamily="34" charset="0"/>
                <a:ea typeface="Courier New" pitchFamily="34" charset="-122"/>
                <a:cs typeface="Courier New" pitchFamily="34" charset="-120"/>
              </a:rPr>
              <a:t>until the change is tiny</a:t>
            </a:r>
            <a:endParaRPr lang="en-US" sz="1400" dirty="0"/>
          </a:p>
        </p:txBody>
      </p:sp>
      <p:sp>
        <p:nvSpPr>
          <p:cNvPr id="12" name="Formula card"/>
          <p:cNvSpPr/>
          <p:nvPr/>
        </p:nvSpPr>
        <p:spPr>
          <a:xfrm>
            <a:off x="457200" y="4069080"/>
            <a:ext cx="3840480" cy="457200"/>
          </a:xfrm>
          <a:prstGeom prst="rect">
            <a:avLst/>
          </a:prstGeom>
          <a:solidFill>
            <a:schemeClr val="tx1"/>
          </a:solidFill>
          <a:ln/>
        </p:spPr>
        <p:txBody>
          <a:bodyPr/>
          <a:lstStyle/>
          <a:p>
            <a:endParaRPr lang="en-AU"/>
          </a:p>
        </p:txBody>
      </p:sp>
      <p:sp>
        <p:nvSpPr>
          <p:cNvPr id="13" name="Text 10"/>
          <p:cNvSpPr txBox="1"/>
          <p:nvPr/>
        </p:nvSpPr>
        <p:spPr>
          <a:xfrm>
            <a:off x="457200" y="4069080"/>
            <a:ext cx="3840480" cy="457200"/>
          </a:xfrm>
          <a:prstGeom prst="rect">
            <a:avLst/>
          </a:prstGeom>
          <a:noFill/>
          <a:ln/>
        </p:spPr>
        <p:txBody>
          <a:bodyPr wrap="square" lIns="0" tIns="0" rIns="0" bIns="0" rtlCol="0" anchor="ctr"/>
          <a:lstStyle/>
          <a:p>
            <a:pPr marL="0" indent="0" algn="ctr">
              <a:buNone/>
            </a:pPr>
            <a:r>
              <a:rPr lang="en-US" sz="1400" b="1" dirty="0">
                <a:solidFill>
                  <a:schemeClr val="accent4"/>
                </a:solidFill>
                <a:latin typeface="Courier New" pitchFamily="34" charset="0"/>
                <a:ea typeface="Courier New" pitchFamily="34" charset="-122"/>
                <a:cs typeface="Courier New" pitchFamily="34" charset="-120"/>
              </a:rPr>
              <a:t>v_new = v - f(v) / f'(v)</a:t>
            </a:r>
            <a:endParaRPr lang="en-US" sz="1400" dirty="0"/>
          </a:p>
        </p:txBody>
      </p:sp>
      <p:graphicFrame>
        <p:nvGraphicFramePr>
          <p:cNvPr id="14" name="Chart 0"/>
          <p:cNvGraphicFramePr/>
          <p:nvPr/>
        </p:nvGraphicFramePr>
        <p:xfrm>
          <a:off x="4526280" y="1188720"/>
          <a:ext cx="41605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5" name="Newton result"/>
          <p:cNvSpPr txBox="1"/>
          <p:nvPr/>
        </p:nvSpPr>
        <p:spPr>
          <a:xfrm>
            <a:off x="4526280" y="3794760"/>
            <a:ext cx="4160520" cy="731520"/>
          </a:xfrm>
          <a:prstGeom prst="rect">
            <a:avLst/>
          </a:prstGeom>
          <a:solidFill>
            <a:schemeClr val="bg2"/>
          </a:solidFill>
          <a:ln/>
        </p:spPr>
        <p:txBody>
          <a:bodyPr wrap="square" lIns="101600" tIns="101600" rIns="101600" bIns="101600" rtlCol="0" anchor="ctr"/>
          <a:lstStyle/>
          <a:p>
            <a:pPr marL="0" indent="0" algn="ctr">
              <a:buNone/>
            </a:pPr>
            <a:r>
              <a:rPr lang="en-US" sz="1800" b="1" dirty="0">
                <a:solidFill>
                  <a:schemeClr val="accent1"/>
                </a:solidFill>
              </a:rPr>
              <a:t>0.692490 V in 11 iterations</a:t>
            </a:r>
            <a:endParaRPr lang="en-US" sz="1800" dirty="0"/>
          </a:p>
          <a:p>
            <a:pPr marL="0" indent="0" algn="ctr">
              <a:buNone/>
            </a:pPr>
            <a:r>
              <a:rPr lang="en-US" sz="1200" dirty="0">
                <a:solidFill>
                  <a:schemeClr val="tx1"/>
                </a:solidFill>
              </a:rPr>
              <a:t>current 4.3075 mA = (5 - 0.69249) / 1 kΩ</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Helping Newton's method converge</a:t>
            </a:r>
            <a:endParaRPr lang="en-US" sz="3400" dirty="0"/>
          </a:p>
        </p:txBody>
      </p:sp>
      <p:sp>
        <p:nvSpPr>
          <p:cNvPr id="4" name="Safeguard 1"/>
          <p:cNvSpPr/>
          <p:nvPr/>
        </p:nvSpPr>
        <p:spPr>
          <a:xfrm>
            <a:off x="457200" y="1188720"/>
            <a:ext cx="2651760" cy="1325880"/>
          </a:xfrm>
          <a:prstGeom prst="rect">
            <a:avLst/>
          </a:prstGeom>
          <a:solidFill>
            <a:schemeClr val="bg2"/>
          </a:solidFill>
          <a:ln/>
        </p:spPr>
        <p:txBody>
          <a:bodyPr/>
          <a:lstStyle/>
          <a:p>
            <a:endParaRPr lang="en-AU"/>
          </a:p>
        </p:txBody>
      </p:sp>
      <p:sp>
        <p:nvSpPr>
          <p:cNvPr id="5" name="Number 1"/>
          <p:cNvSpPr txBox="1"/>
          <p:nvPr/>
        </p:nvSpPr>
        <p:spPr>
          <a:xfrm>
            <a:off x="594360" y="132588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1</a:t>
            </a:r>
            <a:endParaRPr lang="en-US" sz="2200" dirty="0"/>
          </a:p>
        </p:txBody>
      </p:sp>
      <p:sp>
        <p:nvSpPr>
          <p:cNvPr id="6" name="Text 3"/>
          <p:cNvSpPr txBox="1"/>
          <p:nvPr/>
        </p:nvSpPr>
        <p:spPr>
          <a:xfrm>
            <a:off x="1051560" y="132588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Overflow-safe exp</a:t>
            </a:r>
            <a:endParaRPr lang="en-US" sz="1500" dirty="0"/>
          </a:p>
        </p:txBody>
      </p:sp>
      <p:sp>
        <p:nvSpPr>
          <p:cNvPr id="7" name="Text 4"/>
          <p:cNvSpPr txBox="1"/>
          <p:nvPr/>
        </p:nvSpPr>
        <p:spPr>
          <a:xfrm>
            <a:off x="594360" y="1783080"/>
            <a:ext cx="2423160" cy="685800"/>
          </a:xfrm>
          <a:prstGeom prst="rect">
            <a:avLst/>
          </a:prstGeom>
          <a:noFill/>
          <a:ln/>
        </p:spPr>
        <p:txBody>
          <a:bodyPr wrap="square" lIns="0" tIns="0" rIns="0" bIns="0" rtlCol="0" anchor="t"/>
          <a:lstStyle/>
          <a:p>
            <a:pPr marL="0" indent="0">
              <a:buNone/>
            </a:pPr>
            <a:r>
              <a:rPr lang="en-US" sz="1300" dirty="0">
                <a:solidFill>
                  <a:schemeClr val="tx1"/>
                </a:solidFill>
              </a:rPr>
              <a:t>Beyond x = 40 the exponential continues as a straight line.</a:t>
            </a:r>
            <a:endParaRPr lang="en-US" sz="1300" dirty="0"/>
          </a:p>
        </p:txBody>
      </p:sp>
      <p:sp>
        <p:nvSpPr>
          <p:cNvPr id="8" name="Safeguard 2"/>
          <p:cNvSpPr/>
          <p:nvPr/>
        </p:nvSpPr>
        <p:spPr>
          <a:xfrm>
            <a:off x="3246120" y="1188720"/>
            <a:ext cx="2651760" cy="1325880"/>
          </a:xfrm>
          <a:prstGeom prst="rect">
            <a:avLst/>
          </a:prstGeom>
          <a:solidFill>
            <a:schemeClr val="bg2"/>
          </a:solidFill>
          <a:ln/>
        </p:spPr>
        <p:txBody>
          <a:bodyPr/>
          <a:lstStyle/>
          <a:p>
            <a:endParaRPr lang="en-AU"/>
          </a:p>
        </p:txBody>
      </p:sp>
      <p:sp>
        <p:nvSpPr>
          <p:cNvPr id="9" name="Number 2"/>
          <p:cNvSpPr txBox="1"/>
          <p:nvPr/>
        </p:nvSpPr>
        <p:spPr>
          <a:xfrm>
            <a:off x="3383280" y="132588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2</a:t>
            </a:r>
            <a:endParaRPr lang="en-US" sz="2200" dirty="0"/>
          </a:p>
        </p:txBody>
      </p:sp>
      <p:sp>
        <p:nvSpPr>
          <p:cNvPr id="10" name="Text 7"/>
          <p:cNvSpPr txBox="1"/>
          <p:nvPr/>
        </p:nvSpPr>
        <p:spPr>
          <a:xfrm>
            <a:off x="3840480" y="132588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Junction limiting</a:t>
            </a:r>
            <a:endParaRPr lang="en-US" sz="1500" dirty="0"/>
          </a:p>
        </p:txBody>
      </p:sp>
      <p:sp>
        <p:nvSpPr>
          <p:cNvPr id="11" name="Text 8"/>
          <p:cNvSpPr txBox="1"/>
          <p:nvPr/>
        </p:nvSpPr>
        <p:spPr>
          <a:xfrm>
            <a:off x="3383280" y="1783080"/>
            <a:ext cx="2423160" cy="685800"/>
          </a:xfrm>
          <a:prstGeom prst="rect">
            <a:avLst/>
          </a:prstGeom>
          <a:noFill/>
          <a:ln/>
        </p:spPr>
        <p:txBody>
          <a:bodyPr wrap="square" lIns="0" tIns="0" rIns="0" bIns="0" rtlCol="0" anchor="t"/>
          <a:lstStyle/>
          <a:p>
            <a:pPr marL="0" indent="0">
              <a:buNone/>
            </a:pPr>
            <a:r>
              <a:rPr lang="en-US" sz="1300" dirty="0">
                <a:solidFill>
                  <a:schemeClr val="tx1"/>
                </a:solidFill>
              </a:rPr>
              <a:t>A big jump above Vcrit becomes a logarithmic step.</a:t>
            </a:r>
            <a:endParaRPr lang="en-US" sz="1300" dirty="0"/>
          </a:p>
        </p:txBody>
      </p:sp>
      <p:sp>
        <p:nvSpPr>
          <p:cNvPr id="12" name="Safeguard 3"/>
          <p:cNvSpPr/>
          <p:nvPr/>
        </p:nvSpPr>
        <p:spPr>
          <a:xfrm>
            <a:off x="6035040" y="1188720"/>
            <a:ext cx="2651760" cy="1325880"/>
          </a:xfrm>
          <a:prstGeom prst="rect">
            <a:avLst/>
          </a:prstGeom>
          <a:solidFill>
            <a:schemeClr val="bg2"/>
          </a:solidFill>
          <a:ln/>
        </p:spPr>
        <p:txBody>
          <a:bodyPr/>
          <a:lstStyle/>
          <a:p>
            <a:endParaRPr lang="en-AU"/>
          </a:p>
        </p:txBody>
      </p:sp>
      <p:sp>
        <p:nvSpPr>
          <p:cNvPr id="13" name="Number 3"/>
          <p:cNvSpPr txBox="1"/>
          <p:nvPr/>
        </p:nvSpPr>
        <p:spPr>
          <a:xfrm>
            <a:off x="6172200" y="132588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3</a:t>
            </a:r>
            <a:endParaRPr lang="en-US" sz="2200" dirty="0"/>
          </a:p>
        </p:txBody>
      </p:sp>
      <p:sp>
        <p:nvSpPr>
          <p:cNvPr id="14" name="Text 11"/>
          <p:cNvSpPr txBox="1"/>
          <p:nvPr/>
        </p:nvSpPr>
        <p:spPr>
          <a:xfrm>
            <a:off x="6629400" y="132588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Limited flag</a:t>
            </a:r>
            <a:endParaRPr lang="en-US" sz="1500" dirty="0"/>
          </a:p>
        </p:txBody>
      </p:sp>
      <p:sp>
        <p:nvSpPr>
          <p:cNvPr id="15" name="Text 12"/>
          <p:cNvSpPr txBox="1"/>
          <p:nvPr/>
        </p:nvSpPr>
        <p:spPr>
          <a:xfrm>
            <a:off x="6172200" y="1783080"/>
            <a:ext cx="2423160" cy="685800"/>
          </a:xfrm>
          <a:prstGeom prst="rect">
            <a:avLst/>
          </a:prstGeom>
          <a:noFill/>
          <a:ln/>
        </p:spPr>
        <p:txBody>
          <a:bodyPr wrap="square" lIns="0" tIns="0" rIns="0" bIns="0" rtlCol="0" anchor="t"/>
          <a:lstStyle/>
          <a:p>
            <a:pPr marL="0" indent="0">
              <a:buNone/>
            </a:pPr>
            <a:r>
              <a:rPr lang="en-US" sz="1300" dirty="0">
                <a:solidFill>
                  <a:schemeClr val="tx1"/>
                </a:solidFill>
              </a:rPr>
              <a:t>A limited step can never count as converged.</a:t>
            </a:r>
            <a:endParaRPr lang="en-US" sz="1300" dirty="0"/>
          </a:p>
        </p:txBody>
      </p:sp>
      <p:sp>
        <p:nvSpPr>
          <p:cNvPr id="16" name="Safeguard 4"/>
          <p:cNvSpPr/>
          <p:nvPr/>
        </p:nvSpPr>
        <p:spPr>
          <a:xfrm>
            <a:off x="457200" y="2651760"/>
            <a:ext cx="2651760" cy="1325880"/>
          </a:xfrm>
          <a:prstGeom prst="rect">
            <a:avLst/>
          </a:prstGeom>
          <a:solidFill>
            <a:schemeClr val="bg2"/>
          </a:solidFill>
          <a:ln/>
        </p:spPr>
        <p:txBody>
          <a:bodyPr/>
          <a:lstStyle/>
          <a:p>
            <a:endParaRPr lang="en-AU"/>
          </a:p>
        </p:txBody>
      </p:sp>
      <p:sp>
        <p:nvSpPr>
          <p:cNvPr id="17" name="Number 4"/>
          <p:cNvSpPr txBox="1"/>
          <p:nvPr/>
        </p:nvSpPr>
        <p:spPr>
          <a:xfrm>
            <a:off x="594360" y="278892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4</a:t>
            </a:r>
            <a:endParaRPr lang="en-US" sz="2200" dirty="0"/>
          </a:p>
        </p:txBody>
      </p:sp>
      <p:sp>
        <p:nvSpPr>
          <p:cNvPr id="18" name="Text 15"/>
          <p:cNvSpPr txBox="1"/>
          <p:nvPr/>
        </p:nvSpPr>
        <p:spPr>
          <a:xfrm>
            <a:off x="1051560" y="278892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gmin</a:t>
            </a:r>
            <a:endParaRPr lang="en-US" sz="1500" dirty="0"/>
          </a:p>
        </p:txBody>
      </p:sp>
      <p:sp>
        <p:nvSpPr>
          <p:cNvPr id="19" name="Text 16"/>
          <p:cNvSpPr txBox="1"/>
          <p:nvPr/>
        </p:nvSpPr>
        <p:spPr>
          <a:xfrm>
            <a:off x="594360" y="3246120"/>
            <a:ext cx="2423160" cy="685800"/>
          </a:xfrm>
          <a:prstGeom prst="rect">
            <a:avLst/>
          </a:prstGeom>
          <a:noFill/>
          <a:ln/>
        </p:spPr>
        <p:txBody>
          <a:bodyPr wrap="square" lIns="0" tIns="0" rIns="0" bIns="0" rtlCol="0" anchor="t"/>
          <a:lstStyle/>
          <a:p>
            <a:pPr marL="0" indent="0">
              <a:buNone/>
            </a:pPr>
            <a:r>
              <a:rPr lang="en-US" sz="1300" dirty="0">
                <a:solidFill>
                  <a:schemeClr val="tx1"/>
                </a:solidFill>
              </a:rPr>
              <a:t>A 1e-12 S leak to ground keeps the matrix solvable.</a:t>
            </a:r>
            <a:endParaRPr lang="en-US" sz="1300" dirty="0"/>
          </a:p>
        </p:txBody>
      </p:sp>
      <p:sp>
        <p:nvSpPr>
          <p:cNvPr id="20" name="Safeguard 5"/>
          <p:cNvSpPr/>
          <p:nvPr/>
        </p:nvSpPr>
        <p:spPr>
          <a:xfrm>
            <a:off x="3246120" y="2651760"/>
            <a:ext cx="2651760" cy="1325880"/>
          </a:xfrm>
          <a:prstGeom prst="rect">
            <a:avLst/>
          </a:prstGeom>
          <a:solidFill>
            <a:schemeClr val="bg2"/>
          </a:solidFill>
          <a:ln/>
        </p:spPr>
        <p:txBody>
          <a:bodyPr/>
          <a:lstStyle/>
          <a:p>
            <a:endParaRPr lang="en-AU"/>
          </a:p>
        </p:txBody>
      </p:sp>
      <p:sp>
        <p:nvSpPr>
          <p:cNvPr id="21" name="Number 5"/>
          <p:cNvSpPr txBox="1"/>
          <p:nvPr/>
        </p:nvSpPr>
        <p:spPr>
          <a:xfrm>
            <a:off x="3383280" y="278892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5</a:t>
            </a:r>
            <a:endParaRPr lang="en-US" sz="2200" dirty="0"/>
          </a:p>
        </p:txBody>
      </p:sp>
      <p:sp>
        <p:nvSpPr>
          <p:cNvPr id="22" name="Text 19"/>
          <p:cNvSpPr txBox="1"/>
          <p:nvPr/>
        </p:nvSpPr>
        <p:spPr>
          <a:xfrm>
            <a:off x="3840480" y="278892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Stepping</a:t>
            </a:r>
            <a:endParaRPr lang="en-US" sz="1500" dirty="0"/>
          </a:p>
        </p:txBody>
      </p:sp>
      <p:sp>
        <p:nvSpPr>
          <p:cNvPr id="23" name="Text 20"/>
          <p:cNvSpPr txBox="1"/>
          <p:nvPr/>
        </p:nvSpPr>
        <p:spPr>
          <a:xfrm>
            <a:off x="3383280" y="3246120"/>
            <a:ext cx="2423160" cy="685800"/>
          </a:xfrm>
          <a:prstGeom prst="rect">
            <a:avLst/>
          </a:prstGeom>
          <a:noFill/>
          <a:ln/>
        </p:spPr>
        <p:txBody>
          <a:bodyPr wrap="square" lIns="0" tIns="0" rIns="0" bIns="0" rtlCol="0" anchor="t"/>
          <a:lstStyle/>
          <a:p>
            <a:pPr marL="0" indent="0">
              <a:buNone/>
            </a:pPr>
            <a:r>
              <a:rPr lang="en-US" sz="1300" dirty="0">
                <a:solidFill>
                  <a:schemeClr val="tx1"/>
                </a:solidFill>
              </a:rPr>
              <a:t>Solve an easy version first, then deform it into the real circuit.</a:t>
            </a:r>
            <a:endParaRPr lang="en-US" sz="1300" dirty="0"/>
          </a:p>
        </p:txBody>
      </p:sp>
      <p:sp>
        <p:nvSpPr>
          <p:cNvPr id="24" name="Safeguard 6"/>
          <p:cNvSpPr/>
          <p:nvPr/>
        </p:nvSpPr>
        <p:spPr>
          <a:xfrm>
            <a:off x="6035040" y="2651760"/>
            <a:ext cx="2651760" cy="1325880"/>
          </a:xfrm>
          <a:prstGeom prst="rect">
            <a:avLst/>
          </a:prstGeom>
          <a:solidFill>
            <a:schemeClr val="bg2"/>
          </a:solidFill>
          <a:ln/>
        </p:spPr>
        <p:txBody>
          <a:bodyPr/>
          <a:lstStyle/>
          <a:p>
            <a:endParaRPr lang="en-AU"/>
          </a:p>
        </p:txBody>
      </p:sp>
      <p:sp>
        <p:nvSpPr>
          <p:cNvPr id="25" name="Number 6"/>
          <p:cNvSpPr txBox="1"/>
          <p:nvPr/>
        </p:nvSpPr>
        <p:spPr>
          <a:xfrm>
            <a:off x="6172200" y="2788920"/>
            <a:ext cx="365760" cy="365760"/>
          </a:xfrm>
          <a:prstGeom prst="rect">
            <a:avLst/>
          </a:prstGeom>
          <a:noFill/>
          <a:ln/>
        </p:spPr>
        <p:txBody>
          <a:bodyPr wrap="square" lIns="0" tIns="0" rIns="0" bIns="0" rtlCol="0" anchor="ctr"/>
          <a:lstStyle/>
          <a:p>
            <a:pPr marL="0" indent="0" algn="l">
              <a:buNone/>
            </a:pPr>
            <a:r>
              <a:rPr lang="en-US" sz="2200" dirty="0">
                <a:solidFill>
                  <a:schemeClr val="accent1"/>
                </a:solidFill>
                <a:latin typeface="Cambria" pitchFamily="34" charset="0"/>
                <a:ea typeface="Cambria" pitchFamily="34" charset="-122"/>
                <a:cs typeface="Cambria" pitchFamily="34" charset="-120"/>
              </a:rPr>
              <a:t>6</a:t>
            </a:r>
            <a:endParaRPr lang="en-US" sz="2200" dirty="0"/>
          </a:p>
        </p:txBody>
      </p:sp>
      <p:sp>
        <p:nvSpPr>
          <p:cNvPr id="26" name="Text 23"/>
          <p:cNvSpPr txBox="1"/>
          <p:nvPr/>
        </p:nvSpPr>
        <p:spPr>
          <a:xfrm>
            <a:off x="6629400" y="2788920"/>
            <a:ext cx="1965960" cy="365760"/>
          </a:xfrm>
          <a:prstGeom prst="rect">
            <a:avLst/>
          </a:prstGeom>
          <a:noFill/>
          <a:ln/>
        </p:spPr>
        <p:txBody>
          <a:bodyPr wrap="square" lIns="0" tIns="0" rIns="0" bIns="0" rtlCol="0" anchor="ctr"/>
          <a:lstStyle/>
          <a:p>
            <a:pPr marL="0" indent="0">
              <a:buNone/>
            </a:pPr>
            <a:r>
              <a:rPr lang="en-US" sz="1500" b="1" dirty="0">
                <a:solidFill>
                  <a:schemeClr val="tx1"/>
                </a:solidFill>
              </a:rPr>
              <a:t>Step halving</a:t>
            </a:r>
            <a:endParaRPr lang="en-US" sz="1500" dirty="0"/>
          </a:p>
        </p:txBody>
      </p:sp>
      <p:sp>
        <p:nvSpPr>
          <p:cNvPr id="27" name="Text 24"/>
          <p:cNvSpPr txBox="1"/>
          <p:nvPr/>
        </p:nvSpPr>
        <p:spPr>
          <a:xfrm>
            <a:off x="6172200" y="3246120"/>
            <a:ext cx="2423160" cy="685800"/>
          </a:xfrm>
          <a:prstGeom prst="rect">
            <a:avLst/>
          </a:prstGeom>
          <a:noFill/>
          <a:ln/>
        </p:spPr>
        <p:txBody>
          <a:bodyPr wrap="square" lIns="0" tIns="0" rIns="0" bIns="0" rtlCol="0" anchor="t"/>
          <a:lstStyle/>
          <a:p>
            <a:pPr marL="0" indent="0">
              <a:buNone/>
            </a:pPr>
            <a:r>
              <a:rPr lang="en-US" sz="1300" dirty="0">
                <a:solidFill>
                  <a:schemeClr val="tx1"/>
                </a:solidFill>
              </a:rPr>
              <a:t>A failed time step is retried as two half-steps, up to 12 times.</a:t>
            </a:r>
            <a:endParaRPr lang="en-US" sz="1300" dirty="0"/>
          </a:p>
        </p:txBody>
      </p:sp>
      <p:sp>
        <p:nvSpPr>
          <p:cNvPr id="28" name="Overshoot callout"/>
          <p:cNvSpPr/>
          <p:nvPr/>
        </p:nvSpPr>
        <p:spPr>
          <a:xfrm>
            <a:off x="457200" y="4114800"/>
            <a:ext cx="8229600" cy="457200"/>
          </a:xfrm>
          <a:prstGeom prst="rect">
            <a:avLst/>
          </a:prstGeom>
          <a:solidFill>
            <a:schemeClr val="tx1"/>
          </a:solidFill>
          <a:ln/>
        </p:spPr>
        <p:txBody>
          <a:bodyPr/>
          <a:lstStyle/>
          <a:p>
            <a:endParaRPr lang="en-AU"/>
          </a:p>
        </p:txBody>
      </p:sp>
      <p:sp>
        <p:nvSpPr>
          <p:cNvPr id="29" name="Text 26"/>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400" b="1" dirty="0">
                <a:solidFill>
                  <a:schemeClr val="accent4"/>
                </a:solidFill>
              </a:rPr>
              <a:t>The 5.0 V overshoot is pulled back to 0.72 V in five limited iterations</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bg1"/>
                </a:solidFill>
              </a:rPr>
              <a:t>Transistors and small-signal gain</a:t>
            </a:r>
            <a:endParaRPr lang="en-US" sz="3400" dirty="0"/>
          </a:p>
        </p:txBody>
      </p:sp>
      <p:sp>
        <p:nvSpPr>
          <p:cNvPr id="4" name="Text 1"/>
          <p:cNvSpPr txBox="1"/>
          <p:nvPr/>
        </p:nvSpPr>
        <p:spPr>
          <a:xfrm>
            <a:off x="457200" y="1143000"/>
            <a:ext cx="4023360" cy="320040"/>
          </a:xfrm>
          <a:prstGeom prst="rect">
            <a:avLst/>
          </a:prstGeom>
          <a:noFill/>
          <a:ln/>
        </p:spPr>
        <p:txBody>
          <a:bodyPr wrap="square" lIns="0" tIns="0" rIns="0" bIns="0" rtlCol="0" anchor="t"/>
          <a:lstStyle/>
          <a:p>
            <a:pPr marL="0" indent="0">
              <a:buNone/>
            </a:pPr>
            <a:r>
              <a:rPr lang="en-US" sz="1600" b="1" dirty="0">
                <a:solidFill>
                  <a:schemeClr val="accent3"/>
                </a:solidFill>
              </a:rPr>
              <a:t>One interface for every nonlinear device</a:t>
            </a:r>
            <a:endParaRPr lang="en-US" sz="1600" dirty="0"/>
          </a:p>
        </p:txBody>
      </p:sp>
      <p:sp>
        <p:nvSpPr>
          <p:cNvPr id="5" name="Interface row 1"/>
          <p:cNvSpPr/>
          <p:nvPr/>
        </p:nvSpPr>
        <p:spPr>
          <a:xfrm>
            <a:off x="457200" y="1600200"/>
            <a:ext cx="4023360" cy="548640"/>
          </a:xfrm>
          <a:prstGeom prst="rect">
            <a:avLst/>
          </a:prstGeom>
          <a:solidFill>
            <a:schemeClr val="tx2"/>
          </a:solidFill>
          <a:ln/>
        </p:spPr>
        <p:txBody>
          <a:bodyPr/>
          <a:lstStyle/>
          <a:p>
            <a:endParaRPr lang="en-AU"/>
          </a:p>
        </p:txBody>
      </p:sp>
      <p:sp>
        <p:nvSpPr>
          <p:cNvPr id="6" name="Text 3"/>
          <p:cNvSpPr txBox="1"/>
          <p:nvPr/>
        </p:nvSpPr>
        <p:spPr>
          <a:xfrm>
            <a:off x="594360" y="1600200"/>
            <a:ext cx="3794760" cy="548640"/>
          </a:xfrm>
          <a:prstGeom prst="rect">
            <a:avLst/>
          </a:prstGeom>
          <a:noFill/>
          <a:ln/>
        </p:spPr>
        <p:txBody>
          <a:bodyPr wrap="square" lIns="0" tIns="0" rIns="0" bIns="0" rtlCol="0" anchor="ctr"/>
          <a:lstStyle/>
          <a:p>
            <a:pPr marL="0" indent="0">
              <a:buNone/>
            </a:pPr>
            <a:r>
              <a:rPr lang="en-US" sz="1400" b="1" dirty="0">
                <a:solidFill>
                  <a:schemeClr val="accent4"/>
                </a:solidFill>
              </a:rPr>
              <a:t>Terminals  </a:t>
            </a:r>
            <a:r>
              <a:rPr lang="en-US" sz="1300" dirty="0">
                <a:solidFill>
                  <a:schemeClr val="bg1"/>
                </a:solidFill>
              </a:rPr>
              <a:t>the nodes it touches, in a fixed order</a:t>
            </a:r>
            <a:endParaRPr lang="en-US" sz="1400" dirty="0"/>
          </a:p>
        </p:txBody>
      </p:sp>
      <p:sp>
        <p:nvSpPr>
          <p:cNvPr id="7" name="Interface row 2"/>
          <p:cNvSpPr/>
          <p:nvPr/>
        </p:nvSpPr>
        <p:spPr>
          <a:xfrm>
            <a:off x="457200" y="2240280"/>
            <a:ext cx="4023360" cy="548640"/>
          </a:xfrm>
          <a:prstGeom prst="rect">
            <a:avLst/>
          </a:prstGeom>
          <a:solidFill>
            <a:schemeClr val="tx2"/>
          </a:solidFill>
          <a:ln/>
        </p:spPr>
        <p:txBody>
          <a:bodyPr/>
          <a:lstStyle/>
          <a:p>
            <a:endParaRPr lang="en-AU"/>
          </a:p>
        </p:txBody>
      </p:sp>
      <p:sp>
        <p:nvSpPr>
          <p:cNvPr id="8" name="Text 5"/>
          <p:cNvSpPr txBox="1"/>
          <p:nvPr/>
        </p:nvSpPr>
        <p:spPr>
          <a:xfrm>
            <a:off x="594360" y="2240280"/>
            <a:ext cx="3794760" cy="548640"/>
          </a:xfrm>
          <a:prstGeom prst="rect">
            <a:avLst/>
          </a:prstGeom>
          <a:noFill/>
          <a:ln/>
        </p:spPr>
        <p:txBody>
          <a:bodyPr wrap="square" lIns="0" tIns="0" rIns="0" bIns="0" rtlCol="0" anchor="ctr"/>
          <a:lstStyle/>
          <a:p>
            <a:pPr marL="0" indent="0">
              <a:buNone/>
            </a:pPr>
            <a:r>
              <a:rPr lang="en-US" sz="1400" b="1" dirty="0">
                <a:solidFill>
                  <a:schemeClr val="accent4"/>
                </a:solidFill>
              </a:rPr>
              <a:t>Controls  </a:t>
            </a:r>
            <a:r>
              <a:rPr lang="en-US" sz="1300" dirty="0">
                <a:solidFill>
                  <a:schemeClr val="bg1"/>
                </a:solidFill>
              </a:rPr>
              <a:t>the few voltage differences the current depends on</a:t>
            </a:r>
            <a:endParaRPr lang="en-US" sz="1400" dirty="0"/>
          </a:p>
        </p:txBody>
      </p:sp>
      <p:sp>
        <p:nvSpPr>
          <p:cNvPr id="9" name="Interface row 3"/>
          <p:cNvSpPr/>
          <p:nvPr/>
        </p:nvSpPr>
        <p:spPr>
          <a:xfrm>
            <a:off x="457200" y="2880360"/>
            <a:ext cx="4023360" cy="548640"/>
          </a:xfrm>
          <a:prstGeom prst="rect">
            <a:avLst/>
          </a:prstGeom>
          <a:solidFill>
            <a:schemeClr val="tx2"/>
          </a:solidFill>
          <a:ln/>
        </p:spPr>
        <p:txBody>
          <a:bodyPr/>
          <a:lstStyle/>
          <a:p>
            <a:endParaRPr lang="en-AU"/>
          </a:p>
        </p:txBody>
      </p:sp>
      <p:sp>
        <p:nvSpPr>
          <p:cNvPr id="10" name="Text 7"/>
          <p:cNvSpPr txBox="1"/>
          <p:nvPr/>
        </p:nvSpPr>
        <p:spPr>
          <a:xfrm>
            <a:off x="594360" y="2880360"/>
            <a:ext cx="3794760" cy="548640"/>
          </a:xfrm>
          <a:prstGeom prst="rect">
            <a:avLst/>
          </a:prstGeom>
          <a:noFill/>
          <a:ln/>
        </p:spPr>
        <p:txBody>
          <a:bodyPr wrap="square" lIns="0" tIns="0" rIns="0" bIns="0" rtlCol="0" anchor="ctr"/>
          <a:lstStyle/>
          <a:p>
            <a:pPr marL="0" indent="0">
              <a:buNone/>
            </a:pPr>
            <a:r>
              <a:rPr lang="en-US" sz="1400" b="1" dirty="0">
                <a:solidFill>
                  <a:schemeClr val="accent4"/>
                </a:solidFill>
              </a:rPr>
              <a:t>Model  </a:t>
            </a:r>
            <a:r>
              <a:rPr lang="en-US" sz="1300" dirty="0">
                <a:solidFill>
                  <a:schemeClr val="bg1"/>
                </a:solidFill>
              </a:rPr>
              <a:t>controls in; currents and Jacobian out</a:t>
            </a:r>
            <a:endParaRPr lang="en-US" sz="1400" dirty="0"/>
          </a:p>
        </p:txBody>
      </p:sp>
      <p:sp>
        <p:nvSpPr>
          <p:cNvPr id="11" name="Interface row 4"/>
          <p:cNvSpPr/>
          <p:nvPr/>
        </p:nvSpPr>
        <p:spPr>
          <a:xfrm>
            <a:off x="457200" y="3520440"/>
            <a:ext cx="4023360" cy="548640"/>
          </a:xfrm>
          <a:prstGeom prst="rect">
            <a:avLst/>
          </a:prstGeom>
          <a:solidFill>
            <a:schemeClr val="tx2"/>
          </a:solidFill>
          <a:ln/>
        </p:spPr>
        <p:txBody>
          <a:bodyPr/>
          <a:lstStyle/>
          <a:p>
            <a:endParaRPr lang="en-AU"/>
          </a:p>
        </p:txBody>
      </p:sp>
      <p:sp>
        <p:nvSpPr>
          <p:cNvPr id="12" name="Text 9"/>
          <p:cNvSpPr txBox="1"/>
          <p:nvPr/>
        </p:nvSpPr>
        <p:spPr>
          <a:xfrm>
            <a:off x="594360" y="3520440"/>
            <a:ext cx="3794760" cy="548640"/>
          </a:xfrm>
          <a:prstGeom prst="rect">
            <a:avLst/>
          </a:prstGeom>
          <a:noFill/>
          <a:ln/>
        </p:spPr>
        <p:txBody>
          <a:bodyPr wrap="square" lIns="0" tIns="0" rIns="0" bIns="0" rtlCol="0" anchor="ctr"/>
          <a:lstStyle/>
          <a:p>
            <a:pPr marL="0" indent="0">
              <a:buNone/>
            </a:pPr>
            <a:r>
              <a:rPr lang="en-US" sz="1400" b="1" dirty="0">
                <a:solidFill>
                  <a:schemeClr val="accent4"/>
                </a:solidFill>
              </a:rPr>
              <a:t>Limiter  </a:t>
            </a:r>
            <a:r>
              <a:rPr lang="en-US" sz="1300" dirty="0">
                <a:solidFill>
                  <a:schemeClr val="bg1"/>
                </a:solidFill>
              </a:rPr>
              <a:t>keeps each Newton step safe</a:t>
            </a:r>
            <a:endParaRPr lang="en-US" sz="1400" dirty="0"/>
          </a:p>
        </p:txBody>
      </p:sp>
      <p:sp>
        <p:nvSpPr>
          <p:cNvPr id="13" name="Text 10"/>
          <p:cNvSpPr txBox="1"/>
          <p:nvPr/>
        </p:nvSpPr>
        <p:spPr>
          <a:xfrm>
            <a:off x="457200" y="4160520"/>
            <a:ext cx="4023360" cy="457200"/>
          </a:xfrm>
          <a:prstGeom prst="rect">
            <a:avLst/>
          </a:prstGeom>
          <a:noFill/>
          <a:ln/>
        </p:spPr>
        <p:txBody>
          <a:bodyPr wrap="square" lIns="0" tIns="0" rIns="0" bIns="0" rtlCol="0" anchor="t"/>
          <a:lstStyle/>
          <a:p>
            <a:pPr marL="0" indent="0">
              <a:buNone/>
            </a:pPr>
            <a:r>
              <a:rPr lang="en-US" sz="1200" dirty="0">
                <a:solidFill>
                  <a:schemeClr val="bg2"/>
                </a:solidFill>
              </a:rPr>
              <a:t>NPN/PNP and NMOS/PMOS are mirror images: a sign of ±1 lets one model serve both.</a:t>
            </a:r>
            <a:endParaRPr lang="en-US" sz="1200" dirty="0"/>
          </a:p>
        </p:txBody>
      </p:sp>
      <p:sp>
        <p:nvSpPr>
          <p:cNvPr id="14" name="Hand gain"/>
          <p:cNvSpPr txBox="1"/>
          <p:nvPr/>
        </p:nvSpPr>
        <p:spPr>
          <a:xfrm>
            <a:off x="4754880" y="1188720"/>
            <a:ext cx="1874520" cy="1600200"/>
          </a:xfrm>
          <a:prstGeom prst="rect">
            <a:avLst/>
          </a:prstGeom>
          <a:solidFill>
            <a:schemeClr val="tx2"/>
          </a:solidFill>
          <a:ln/>
        </p:spPr>
        <p:txBody>
          <a:bodyPr wrap="square" lIns="101600" tIns="101600" rIns="101600" bIns="101600" rtlCol="0" anchor="ctr"/>
          <a:lstStyle/>
          <a:p>
            <a:pPr marL="0" indent="0" algn="ctr">
              <a:buNone/>
            </a:pPr>
            <a:r>
              <a:rPr lang="en-US" sz="3400" b="1" dirty="0">
                <a:solidFill>
                  <a:schemeClr val="accent4"/>
                </a:solidFill>
              </a:rPr>
              <a:t>175.98</a:t>
            </a:r>
            <a:endParaRPr lang="en-US" sz="3400" dirty="0"/>
          </a:p>
          <a:p>
            <a:pPr marL="0" indent="0" algn="ctr">
              <a:buNone/>
            </a:pPr>
            <a:r>
              <a:rPr lang="en-US" sz="1200" dirty="0">
                <a:solidFill>
                  <a:schemeClr val="bg1"/>
                </a:solidFill>
              </a:rPr>
              <a:t>by hand: gm × Rc = 53.3 mS × 3.3 kΩ</a:t>
            </a:r>
            <a:endParaRPr lang="en-US" sz="3400" dirty="0"/>
          </a:p>
        </p:txBody>
      </p:sp>
      <p:sp>
        <p:nvSpPr>
          <p:cNvPr id="15" name="Simulated gain"/>
          <p:cNvSpPr txBox="1"/>
          <p:nvPr/>
        </p:nvSpPr>
        <p:spPr>
          <a:xfrm>
            <a:off x="6812280" y="1188720"/>
            <a:ext cx="1874520" cy="1600200"/>
          </a:xfrm>
          <a:prstGeom prst="rect">
            <a:avLst/>
          </a:prstGeom>
          <a:solidFill>
            <a:schemeClr val="tx2"/>
          </a:solidFill>
          <a:ln/>
        </p:spPr>
        <p:txBody>
          <a:bodyPr wrap="square" lIns="101600" tIns="101600" rIns="101600" bIns="101600" rtlCol="0" anchor="ctr"/>
          <a:lstStyle/>
          <a:p>
            <a:pPr marL="0" indent="0" algn="ctr">
              <a:buNone/>
            </a:pPr>
            <a:r>
              <a:rPr lang="en-US" sz="3400" b="1" dirty="0">
                <a:solidFill>
                  <a:schemeClr val="accent2"/>
                </a:solidFill>
              </a:rPr>
              <a:t>175.97</a:t>
            </a:r>
            <a:endParaRPr lang="en-US" sz="3400" dirty="0"/>
          </a:p>
          <a:p>
            <a:pPr marL="0" indent="0" algn="ctr">
              <a:buNone/>
            </a:pPr>
            <a:r>
              <a:rPr lang="en-US" sz="1200" dirty="0">
                <a:solidFill>
                  <a:schemeClr val="bg1"/>
                </a:solidFill>
              </a:rPr>
              <a:t>simulated at 10 kHz, phase -179.5°</a:t>
            </a:r>
            <a:endParaRPr lang="en-US" sz="3400" dirty="0"/>
          </a:p>
        </p:txBody>
      </p:sp>
      <p:sp>
        <p:nvSpPr>
          <p:cNvPr id="16" name="Agreement card"/>
          <p:cNvSpPr/>
          <p:nvPr/>
        </p:nvSpPr>
        <p:spPr>
          <a:xfrm>
            <a:off x="4754880" y="2926080"/>
            <a:ext cx="3931920" cy="1554480"/>
          </a:xfrm>
          <a:prstGeom prst="rect">
            <a:avLst/>
          </a:prstGeom>
          <a:solidFill>
            <a:schemeClr val="accent1"/>
          </a:solidFill>
          <a:ln/>
        </p:spPr>
        <p:txBody>
          <a:bodyPr/>
          <a:lstStyle/>
          <a:p>
            <a:endParaRPr lang="en-AU"/>
          </a:p>
        </p:txBody>
      </p:sp>
      <p:sp>
        <p:nvSpPr>
          <p:cNvPr id="17" name="Text 14"/>
          <p:cNvSpPr txBox="1"/>
          <p:nvPr/>
        </p:nvSpPr>
        <p:spPr>
          <a:xfrm>
            <a:off x="4937760" y="2971800"/>
            <a:ext cx="3566160" cy="1463040"/>
          </a:xfrm>
          <a:prstGeom prst="rect">
            <a:avLst/>
          </a:prstGeom>
          <a:noFill/>
          <a:ln/>
        </p:spPr>
        <p:txBody>
          <a:bodyPr wrap="square" lIns="0" tIns="0" rIns="0" bIns="0" rtlCol="0" anchor="ctr"/>
          <a:lstStyle/>
          <a:p>
            <a:pPr marL="0" indent="0">
              <a:buNone/>
            </a:pPr>
            <a:r>
              <a:rPr lang="en-US" sz="2400" b="1" dirty="0">
                <a:solidFill>
                  <a:schemeClr val="bg1"/>
                </a:solidFill>
              </a:rPr>
              <a:t>0.01% agreement</a:t>
            </a:r>
            <a:endParaRPr lang="en-US" sz="2400" dirty="0"/>
          </a:p>
          <a:p>
            <a:pPr marL="0" indent="0">
              <a:buNone/>
            </a:pPr>
            <a:r>
              <a:rPr lang="en-US" sz="1400" dirty="0">
                <a:solidFill>
                  <a:schemeClr val="bg1"/>
                </a:solidFill>
              </a:rPr>
              <a:t>Textbook formula vs a nonlinear simulation. Operating point from Newton: Ic = 1.3785 mA.</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Checking the results</a:t>
            </a:r>
            <a:endParaRPr lang="en-US" sz="3400" dirty="0"/>
          </a:p>
        </p:txBody>
      </p:sp>
      <p:graphicFrame>
        <p:nvGraphicFramePr>
          <p:cNvPr id="15" name="Verification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3127248"/>
        </p:xfrm>
        <a:graphic>
          <a:graphicData uri="http://schemas.openxmlformats.org/drawingml/2006/table">
            <a:tbl>
              <a:tblPr/>
              <a:tblGrid>
                <a:gridCol w="28346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47472">
                <a:tc>
                  <a:txBody>
                    <a:bodyPr/>
                    <a:lstStyle/>
                    <a:p>
                      <a:pPr marL="0" indent="0">
                        <a:buNone/>
                      </a:pPr>
                      <a:r>
                        <a:rPr lang="en-US" sz="1300" b="1" dirty="0">
                          <a:solidFill>
                            <a:schemeClr val="bg1"/>
                          </a:solidFill>
                        </a:rPr>
                        <a:t>Check</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Hand or theory</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Simulator</a:t>
                      </a:r>
                      <a:endParaRPr lang="en-US" sz="130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47472">
                <a:tc>
                  <a:txBody>
                    <a:bodyPr/>
                    <a:lstStyle/>
                    <a:p>
                      <a:pPr marL="0" indent="0">
                        <a:buNone/>
                      </a:pPr>
                      <a:r>
                        <a:rPr lang="en-US" sz="1250" b="1" dirty="0">
                          <a:solidFill>
                            <a:schemeClr val="tx1"/>
                          </a:solidFill>
                        </a:rPr>
                        <a:t>Divider, 10 V, 1k + 3k</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7.5 V, -2.5 mA</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7.4999999944 V, -2.5 mA</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250" b="1" dirty="0">
                          <a:solidFill>
                            <a:schemeClr val="tx1"/>
                          </a:solidFill>
                        </a:rPr>
                        <a:t>Cascaded subcircuit dividers</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12/19 = 0.631579 V</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0.631579 V</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250" b="1" dirty="0">
                          <a:solidFill>
                            <a:schemeClr val="tx1"/>
                          </a:solidFill>
                        </a:rPr>
                        <a:t>RC corner, 159.15 Hz</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0.707107 (-3.01 dB, -45°)</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0.7071067808</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250" b="1" dirty="0">
                          <a:solidFill>
                            <a:schemeClr val="tx1"/>
                          </a:solidFill>
                        </a:rPr>
                        <a:t>RC step at one time constant</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1 - e^-1 = 0.632121</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error 3e-6 (trapezoidal, h = 10 µs)</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250" b="1" dirty="0">
                          <a:solidFill>
                            <a:schemeClr val="tx1"/>
                          </a:solidFill>
                        </a:rPr>
                        <a:t>Diode, 5 V and 1 kΩ</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(5 - 0.69249)/1000 = 4.3075 mA</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4.3075 mA</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250" b="1" dirty="0">
                          <a:solidFill>
                            <a:schemeClr val="tx1"/>
                          </a:solidFill>
                        </a:rPr>
                        <a:t>BJT current gain, betaF = 100</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100</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100.00004</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250" b="1" dirty="0">
                          <a:solidFill>
                            <a:schemeClr val="tx1"/>
                          </a:solidFill>
                        </a:rPr>
                        <a:t>CE amplifier mid-band gain</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gm × Rc = 175.98</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175.97, -179.5°</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1250" b="1" dirty="0">
                          <a:solidFill>
                            <a:schemeClr val="tx1"/>
                          </a:solidFill>
                        </a:rPr>
                        <a:t>NMOS / PMOS in triode</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dirty="0">
                          <a:solidFill>
                            <a:schemeClr val="tx1"/>
                          </a:solidFill>
                        </a:rPr>
                        <a:t>0.2721 V / 4.358 V</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tc>
                  <a:txBody>
                    <a:bodyPr/>
                    <a:lstStyle/>
                    <a:p>
                      <a:pPr marL="0" indent="0">
                        <a:buNone/>
                      </a:pPr>
                      <a:r>
                        <a:rPr lang="en-US" sz="1250" b="1" dirty="0">
                          <a:solidFill>
                            <a:schemeClr val="accent2"/>
                          </a:solidFill>
                        </a:rPr>
                        <a:t>0.27214 V / 4.35826 V</a:t>
                      </a:r>
                      <a:endParaRPr lang="en-US" sz="1250" dirty="0"/>
                    </a:p>
                  </a:txBody>
                  <a:tcPr marT="0" marB="0" anchor="ctr">
                    <a:lnL w="9525" cap="flat" cmpd="sng" algn="ctr">
                      <a:solidFill>
                        <a:srgbClr val="D4D6D8"/>
                      </a:solidFill>
                      <a:prstDash val="solid"/>
                      <a:round/>
                      <a:headEnd type="none" w="med" len="med"/>
                      <a:tailEnd type="none" w="med" len="med"/>
                    </a:lnL>
                    <a:lnR w="9525" cap="flat" cmpd="sng" algn="ctr">
                      <a:solidFill>
                        <a:srgbClr val="D4D6D8"/>
                      </a:solidFill>
                      <a:prstDash val="solid"/>
                      <a:round/>
                      <a:headEnd type="none" w="med" len="med"/>
                      <a:tailEnd type="none" w="med" len="med"/>
                    </a:lnR>
                    <a:lnT w="9525" cap="flat" cmpd="sng" algn="ctr">
                      <a:solidFill>
                        <a:srgbClr val="D4D6D8"/>
                      </a:solidFill>
                      <a:prstDash val="solid"/>
                      <a:round/>
                      <a:headEnd type="none" w="med" len="med"/>
                      <a:tailEnd type="none" w="med" len="med"/>
                    </a:lnT>
                    <a:lnB w="9525" cap="flat" cmpd="sng" algn="ctr">
                      <a:solidFill>
                        <a:srgbClr val="D4D6D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Caveat card"/>
          <p:cNvSpPr/>
          <p:nvPr/>
        </p:nvSpPr>
        <p:spPr>
          <a:xfrm>
            <a:off x="457200" y="4389120"/>
            <a:ext cx="8229600" cy="329184"/>
          </a:xfrm>
          <a:prstGeom prst="rect">
            <a:avLst/>
          </a:prstGeom>
          <a:solidFill>
            <a:schemeClr val="bg2"/>
          </a:solidFill>
          <a:ln/>
        </p:spPr>
        <p:txBody>
          <a:bodyPr/>
          <a:lstStyle/>
          <a:p>
            <a:endParaRPr lang="en-AU"/>
          </a:p>
        </p:txBody>
      </p:sp>
      <p:sp>
        <p:nvSpPr>
          <p:cNvPr id="6" name="Text 2"/>
          <p:cNvSpPr txBox="1"/>
          <p:nvPr/>
        </p:nvSpPr>
        <p:spPr>
          <a:xfrm>
            <a:off x="640080" y="4389120"/>
            <a:ext cx="7863840" cy="329184"/>
          </a:xfrm>
          <a:prstGeom prst="rect">
            <a:avLst/>
          </a:prstGeom>
          <a:noFill/>
          <a:ln/>
        </p:spPr>
        <p:txBody>
          <a:bodyPr wrap="square" lIns="0" tIns="0" rIns="0" bIns="0" rtlCol="0" anchor="ctr"/>
          <a:lstStyle/>
          <a:p>
            <a:pPr marL="0" indent="0">
              <a:buNone/>
            </a:pPr>
            <a:r>
              <a:rPr lang="en-US" sz="1200" b="1" dirty="0">
                <a:solidFill>
                  <a:schemeClr val="tx1"/>
                </a:solidFill>
              </a:rPr>
              <a:t>Note: checked against hand calculations, not yet compared with ngspice or LTspice.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Engineering the software</a:t>
            </a:r>
            <a:endParaRPr lang="en-US" sz="3400" dirty="0"/>
          </a:p>
        </p:txBody>
      </p:sp>
      <p:sp>
        <p:nvSpPr>
          <p:cNvPr id="4" name="Layer Presentation"/>
          <p:cNvSpPr/>
          <p:nvPr/>
        </p:nvSpPr>
        <p:spPr>
          <a:xfrm>
            <a:off x="457200" y="1188720"/>
            <a:ext cx="3840480" cy="566928"/>
          </a:xfrm>
          <a:prstGeom prst="rect">
            <a:avLst/>
          </a:prstGeom>
          <a:solidFill>
            <a:schemeClr val="bg2"/>
          </a:solidFill>
          <a:ln/>
        </p:spPr>
        <p:txBody>
          <a:bodyPr/>
          <a:lstStyle/>
          <a:p>
            <a:endParaRPr lang="en-AU"/>
          </a:p>
        </p:txBody>
      </p:sp>
      <p:sp>
        <p:nvSpPr>
          <p:cNvPr id="5" name="Text 2"/>
          <p:cNvSpPr txBox="1"/>
          <p:nvPr/>
        </p:nvSpPr>
        <p:spPr>
          <a:xfrm>
            <a:off x="594360" y="1188720"/>
            <a:ext cx="3611880" cy="566928"/>
          </a:xfrm>
          <a:prstGeom prst="rect">
            <a:avLst/>
          </a:prstGeom>
          <a:noFill/>
          <a:ln/>
        </p:spPr>
        <p:txBody>
          <a:bodyPr wrap="square" lIns="0" tIns="0" rIns="0" bIns="0" rtlCol="0" anchor="ctr"/>
          <a:lstStyle/>
          <a:p>
            <a:pPr marL="0" indent="0">
              <a:buNone/>
            </a:pPr>
            <a:r>
              <a:rPr lang="en-US" sz="1400" b="1" dirty="0">
                <a:solidFill>
                  <a:schemeClr val="tx1"/>
                </a:solidFill>
              </a:rPr>
              <a:t>Presentation  </a:t>
            </a:r>
            <a:r>
              <a:rPr lang="en-US" sz="1100" dirty="0">
                <a:solidFill>
                  <a:schemeClr val="accent6"/>
                </a:solidFill>
              </a:rPr>
              <a:t>gui, cli, report, plotting</a:t>
            </a:r>
            <a:endParaRPr lang="en-US" sz="1400" dirty="0"/>
          </a:p>
        </p:txBody>
      </p:sp>
      <p:sp>
        <p:nvSpPr>
          <p:cNvPr id="6" name="Layer Application"/>
          <p:cNvSpPr/>
          <p:nvPr/>
        </p:nvSpPr>
        <p:spPr>
          <a:xfrm>
            <a:off x="457200" y="1847088"/>
            <a:ext cx="3840480" cy="566928"/>
          </a:xfrm>
          <a:prstGeom prst="rect">
            <a:avLst/>
          </a:prstGeom>
          <a:solidFill>
            <a:schemeClr val="bg2"/>
          </a:solidFill>
          <a:ln/>
        </p:spPr>
        <p:txBody>
          <a:bodyPr/>
          <a:lstStyle/>
          <a:p>
            <a:endParaRPr lang="en-AU"/>
          </a:p>
        </p:txBody>
      </p:sp>
      <p:sp>
        <p:nvSpPr>
          <p:cNvPr id="7" name="Text 4"/>
          <p:cNvSpPr txBox="1"/>
          <p:nvPr/>
        </p:nvSpPr>
        <p:spPr>
          <a:xfrm>
            <a:off x="594360" y="1847088"/>
            <a:ext cx="3611880" cy="566928"/>
          </a:xfrm>
          <a:prstGeom prst="rect">
            <a:avLst/>
          </a:prstGeom>
          <a:noFill/>
          <a:ln/>
        </p:spPr>
        <p:txBody>
          <a:bodyPr wrap="square" lIns="0" tIns="0" rIns="0" bIns="0" rtlCol="0" anchor="ctr"/>
          <a:lstStyle/>
          <a:p>
            <a:pPr marL="0" indent="0">
              <a:buNone/>
            </a:pPr>
            <a:r>
              <a:rPr lang="en-US" sz="1400" b="1" dirty="0">
                <a:solidFill>
                  <a:schemeClr val="tx1"/>
                </a:solidFill>
              </a:rPr>
              <a:t>Application  </a:t>
            </a:r>
            <a:r>
              <a:rPr lang="en-US" sz="1100" dirty="0">
                <a:solidFill>
                  <a:schemeClr val="accent6"/>
                </a:solidFill>
              </a:rPr>
              <a:t>simulate, probes</a:t>
            </a:r>
            <a:endParaRPr lang="en-US" sz="1400" dirty="0"/>
          </a:p>
        </p:txBody>
      </p:sp>
      <p:sp>
        <p:nvSpPr>
          <p:cNvPr id="8" name="Layer Language"/>
          <p:cNvSpPr/>
          <p:nvPr/>
        </p:nvSpPr>
        <p:spPr>
          <a:xfrm>
            <a:off x="457200" y="2505456"/>
            <a:ext cx="3840480" cy="566928"/>
          </a:xfrm>
          <a:prstGeom prst="rect">
            <a:avLst/>
          </a:prstGeom>
          <a:solidFill>
            <a:schemeClr val="bg2"/>
          </a:solidFill>
          <a:ln/>
        </p:spPr>
        <p:txBody>
          <a:bodyPr/>
          <a:lstStyle/>
          <a:p>
            <a:endParaRPr lang="en-AU"/>
          </a:p>
        </p:txBody>
      </p:sp>
      <p:sp>
        <p:nvSpPr>
          <p:cNvPr id="9" name="Text 6"/>
          <p:cNvSpPr txBox="1"/>
          <p:nvPr/>
        </p:nvSpPr>
        <p:spPr>
          <a:xfrm>
            <a:off x="594360" y="2505456"/>
            <a:ext cx="3611880" cy="566928"/>
          </a:xfrm>
          <a:prstGeom prst="rect">
            <a:avLst/>
          </a:prstGeom>
          <a:noFill/>
          <a:ln/>
        </p:spPr>
        <p:txBody>
          <a:bodyPr wrap="square" lIns="0" tIns="0" rIns="0" bIns="0" rtlCol="0" anchor="ctr"/>
          <a:lstStyle/>
          <a:p>
            <a:pPr marL="0" indent="0">
              <a:buNone/>
            </a:pPr>
            <a:r>
              <a:rPr lang="en-US" sz="1400" b="1" dirty="0">
                <a:solidFill>
                  <a:schemeClr val="tx1"/>
                </a:solidFill>
              </a:rPr>
              <a:t>Language  </a:t>
            </a:r>
            <a:r>
              <a:rPr lang="en-US" sz="1100" dirty="0">
                <a:solidFill>
                  <a:schemeClr val="accent6"/>
                </a:solidFill>
              </a:rPr>
              <a:t>spiceParser</a:t>
            </a:r>
            <a:endParaRPr lang="en-US" sz="1400" dirty="0"/>
          </a:p>
        </p:txBody>
      </p:sp>
      <p:sp>
        <p:nvSpPr>
          <p:cNvPr id="10" name="Layer Circuit model"/>
          <p:cNvSpPr/>
          <p:nvPr/>
        </p:nvSpPr>
        <p:spPr>
          <a:xfrm>
            <a:off x="457200" y="3163824"/>
            <a:ext cx="3840480" cy="566928"/>
          </a:xfrm>
          <a:prstGeom prst="rect">
            <a:avLst/>
          </a:prstGeom>
          <a:solidFill>
            <a:schemeClr val="bg2"/>
          </a:solidFill>
          <a:ln/>
        </p:spPr>
        <p:txBody>
          <a:bodyPr/>
          <a:lstStyle/>
          <a:p>
            <a:endParaRPr lang="en-AU"/>
          </a:p>
        </p:txBody>
      </p:sp>
      <p:sp>
        <p:nvSpPr>
          <p:cNvPr id="11" name="Text 8"/>
          <p:cNvSpPr txBox="1"/>
          <p:nvPr/>
        </p:nvSpPr>
        <p:spPr>
          <a:xfrm>
            <a:off x="594360" y="3163824"/>
            <a:ext cx="3611880" cy="566928"/>
          </a:xfrm>
          <a:prstGeom prst="rect">
            <a:avLst/>
          </a:prstGeom>
          <a:noFill/>
          <a:ln/>
        </p:spPr>
        <p:txBody>
          <a:bodyPr wrap="square" lIns="0" tIns="0" rIns="0" bIns="0" rtlCol="0" anchor="ctr"/>
          <a:lstStyle/>
          <a:p>
            <a:pPr marL="0" indent="0">
              <a:buNone/>
            </a:pPr>
            <a:r>
              <a:rPr lang="en-US" sz="1400" b="1" dirty="0">
                <a:solidFill>
                  <a:schemeClr val="tx1"/>
                </a:solidFill>
              </a:rPr>
              <a:t>Circuit model  </a:t>
            </a:r>
            <a:r>
              <a:rPr lang="en-US" sz="1100" dirty="0">
                <a:solidFill>
                  <a:schemeClr val="accent6"/>
                </a:solidFill>
              </a:rPr>
              <a:t>components, circuit, graph</a:t>
            </a:r>
            <a:endParaRPr lang="en-US" sz="1400" dirty="0"/>
          </a:p>
        </p:txBody>
      </p:sp>
      <p:sp>
        <p:nvSpPr>
          <p:cNvPr id="12" name="Layer Numerics"/>
          <p:cNvSpPr/>
          <p:nvPr/>
        </p:nvSpPr>
        <p:spPr>
          <a:xfrm>
            <a:off x="457200" y="3822192"/>
            <a:ext cx="3840480" cy="566928"/>
          </a:xfrm>
          <a:prstGeom prst="rect">
            <a:avLst/>
          </a:prstGeom>
          <a:solidFill>
            <a:schemeClr val="tx1"/>
          </a:solidFill>
          <a:ln/>
        </p:spPr>
        <p:txBody>
          <a:bodyPr/>
          <a:lstStyle/>
          <a:p>
            <a:endParaRPr lang="en-AU"/>
          </a:p>
        </p:txBody>
      </p:sp>
      <p:sp>
        <p:nvSpPr>
          <p:cNvPr id="13" name="Text 10"/>
          <p:cNvSpPr txBox="1"/>
          <p:nvPr/>
        </p:nvSpPr>
        <p:spPr>
          <a:xfrm>
            <a:off x="594360" y="3822192"/>
            <a:ext cx="3611880" cy="566928"/>
          </a:xfrm>
          <a:prstGeom prst="rect">
            <a:avLst/>
          </a:prstGeom>
          <a:noFill/>
          <a:ln/>
        </p:spPr>
        <p:txBody>
          <a:bodyPr wrap="square" lIns="0" tIns="0" rIns="0" bIns="0" rtlCol="0" anchor="ctr"/>
          <a:lstStyle/>
          <a:p>
            <a:pPr marL="0" indent="0">
              <a:buNone/>
            </a:pPr>
            <a:r>
              <a:rPr lang="en-US" sz="1400" b="1" dirty="0">
                <a:solidFill>
                  <a:schemeClr val="bg1"/>
                </a:solidFill>
              </a:rPr>
              <a:t>Numerics  </a:t>
            </a:r>
            <a:r>
              <a:rPr lang="en-US" sz="1100" dirty="0">
                <a:solidFill>
                  <a:schemeClr val="accent3"/>
                </a:solidFill>
              </a:rPr>
              <a:t>system, solver, device models</a:t>
            </a:r>
            <a:endParaRPr lang="en-US" sz="1400" dirty="0"/>
          </a:p>
        </p:txBody>
      </p:sp>
      <p:sp>
        <p:nvSpPr>
          <p:cNvPr id="14" name="Text 11"/>
          <p:cNvSpPr txBox="1"/>
          <p:nvPr/>
        </p:nvSpPr>
        <p:spPr>
          <a:xfrm>
            <a:off x="457200" y="4526280"/>
            <a:ext cx="3931920" cy="228600"/>
          </a:xfrm>
          <a:prstGeom prst="rect">
            <a:avLst/>
          </a:prstGeom>
          <a:noFill/>
          <a:ln/>
        </p:spPr>
        <p:txBody>
          <a:bodyPr wrap="square" lIns="0" tIns="0" rIns="0" bIns="0" rtlCol="0" anchor="t"/>
          <a:lstStyle/>
          <a:p>
            <a:pPr marL="0" indent="0">
              <a:buNone/>
            </a:pPr>
            <a:r>
              <a:rPr lang="en-US" sz="1100" b="1" dirty="0">
                <a:solidFill>
                  <a:schemeClr val="accent1"/>
                </a:solidFill>
              </a:rPr>
              <a:t>Arrows only point down: a lower layer never imports a higher one.</a:t>
            </a:r>
            <a:endParaRPr lang="en-US" sz="1100" dirty="0"/>
          </a:p>
        </p:txBody>
      </p:sp>
      <p:sp>
        <p:nvSpPr>
          <p:cNvPr id="15" name="War story card"/>
          <p:cNvSpPr/>
          <p:nvPr/>
        </p:nvSpPr>
        <p:spPr>
          <a:xfrm>
            <a:off x="4572000" y="1188720"/>
            <a:ext cx="4114800" cy="2331720"/>
          </a:xfrm>
          <a:prstGeom prst="rect">
            <a:avLst/>
          </a:prstGeom>
          <a:solidFill>
            <a:schemeClr val="tx1"/>
          </a:solidFill>
          <a:ln/>
        </p:spPr>
        <p:txBody>
          <a:bodyPr/>
          <a:lstStyle/>
          <a:p>
            <a:endParaRPr lang="en-AU"/>
          </a:p>
        </p:txBody>
      </p:sp>
      <p:sp>
        <p:nvSpPr>
          <p:cNvPr id="16" name="Text 13"/>
          <p:cNvSpPr txBox="1"/>
          <p:nvPr/>
        </p:nvSpPr>
        <p:spPr>
          <a:xfrm>
            <a:off x="4754880" y="1280160"/>
            <a:ext cx="3749040" cy="2148840"/>
          </a:xfrm>
          <a:prstGeom prst="rect">
            <a:avLst/>
          </a:prstGeom>
          <a:noFill/>
          <a:ln/>
        </p:spPr>
        <p:txBody>
          <a:bodyPr wrap="square" lIns="0" tIns="0" rIns="0" bIns="0" rtlCol="0" anchor="t"/>
          <a:lstStyle/>
          <a:p>
            <a:pPr marL="0" indent="0">
              <a:buNone/>
            </a:pPr>
            <a:r>
              <a:rPr lang="en-US" sz="1500" b="1" dirty="0">
                <a:solidFill>
                  <a:schemeClr val="accent4"/>
                </a:solidFill>
              </a:rPr>
              <a:t>Example bug: Zener diode convergence</a:t>
            </a:r>
            <a:endParaRPr lang="en-US" sz="1500" dirty="0"/>
          </a:p>
          <a:p>
            <a:pPr marL="0" indent="0">
              <a:buNone/>
            </a:pPr>
            <a:r>
              <a:rPr lang="en-US" sz="1300" dirty="0">
                <a:solidFill>
                  <a:schemeClr val="bg1"/>
                </a:solidFill>
              </a:rPr>
              <a:t>A limiter wrote -(-(v + BV)) - BV: equal to v in maths, different in the last bit. The solver compared with ==, decided "limiting happened", and never converged.</a:t>
            </a:r>
            <a:endParaRPr lang="en-US" sz="1500" dirty="0"/>
          </a:p>
          <a:p>
            <a:pPr marL="0" indent="0">
              <a:buNone/>
            </a:pPr>
            <a:r>
              <a:rPr lang="en-US" sz="600" dirty="0">
                <a:solidFill>
                  <a:srgbClr val="000000"/>
                </a:solidFill>
              </a:rPr>
              <a:t> </a:t>
            </a:r>
            <a:endParaRPr lang="en-US" sz="1500" dirty="0"/>
          </a:p>
          <a:p>
            <a:pPr marL="0" indent="0">
              <a:buNone/>
            </a:pPr>
            <a:r>
              <a:rPr lang="en-US" sz="1400" b="1" dirty="0">
                <a:solidFill>
                  <a:schemeClr val="accent3"/>
                </a:solidFill>
                <a:latin typeface="Courier New" pitchFamily="34" charset="0"/>
                <a:ea typeface="Courier New" pitchFamily="34" charset="-122"/>
                <a:cs typeface="Courier New" pitchFamily="34" charset="-120"/>
              </a:rPr>
              <a:t>0.1 + 0.2 == 0.3  →  False</a:t>
            </a:r>
            <a:endParaRPr lang="en-US" sz="1500" dirty="0"/>
          </a:p>
        </p:txBody>
      </p:sp>
      <p:sp>
        <p:nvSpPr>
          <p:cNvPr id="17" name="Mutation card"/>
          <p:cNvSpPr/>
          <p:nvPr/>
        </p:nvSpPr>
        <p:spPr>
          <a:xfrm>
            <a:off x="4572000" y="3657600"/>
            <a:ext cx="4114800" cy="822960"/>
          </a:xfrm>
          <a:prstGeom prst="rect">
            <a:avLst/>
          </a:prstGeom>
          <a:solidFill>
            <a:schemeClr val="accent1"/>
          </a:solidFill>
          <a:ln/>
        </p:spPr>
        <p:txBody>
          <a:bodyPr/>
          <a:lstStyle/>
          <a:p>
            <a:endParaRPr lang="en-AU"/>
          </a:p>
        </p:txBody>
      </p:sp>
      <p:sp>
        <p:nvSpPr>
          <p:cNvPr id="18" name="Text 15"/>
          <p:cNvSpPr txBox="1"/>
          <p:nvPr/>
        </p:nvSpPr>
        <p:spPr>
          <a:xfrm>
            <a:off x="4754880" y="3657600"/>
            <a:ext cx="3749040" cy="822960"/>
          </a:xfrm>
          <a:prstGeom prst="rect">
            <a:avLst/>
          </a:prstGeom>
          <a:noFill/>
          <a:ln/>
        </p:spPr>
        <p:txBody>
          <a:bodyPr wrap="square" lIns="0" tIns="0" rIns="0" bIns="0" rtlCol="0" anchor="ctr"/>
          <a:lstStyle/>
          <a:p>
            <a:pPr marL="0" indent="0">
              <a:buNone/>
            </a:pPr>
            <a:r>
              <a:rPr lang="en-US" sz="1300" b="1" dirty="0">
                <a:solidFill>
                  <a:schemeClr val="bg1"/>
                </a:solidFill>
              </a:rPr>
              <a:t>A test that cannot fail tells you nothing. Reintroduce the bug on purpose to confirm the test catches it.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bg1"/>
                </a:solidFill>
              </a:rPr>
              <a:t>Summary</a:t>
            </a:r>
            <a:endParaRPr lang="en-US" sz="3400" dirty="0"/>
          </a:p>
        </p:txBody>
      </p:sp>
      <p:sp>
        <p:nvSpPr>
          <p:cNvPr id="4" name="Takeaway 1"/>
          <p:cNvSpPr/>
          <p:nvPr/>
        </p:nvSpPr>
        <p:spPr>
          <a:xfrm>
            <a:off x="457200" y="1188720"/>
            <a:ext cx="4846320" cy="713232"/>
          </a:xfrm>
          <a:prstGeom prst="rect">
            <a:avLst/>
          </a:prstGeom>
          <a:solidFill>
            <a:schemeClr val="tx2"/>
          </a:solidFill>
          <a:ln/>
        </p:spPr>
        <p:txBody>
          <a:bodyPr/>
          <a:lstStyle/>
          <a:p>
            <a:endParaRPr lang="en-AU"/>
          </a:p>
        </p:txBody>
      </p:sp>
      <p:sp>
        <p:nvSpPr>
          <p:cNvPr id="5" name="Number 1"/>
          <p:cNvSpPr txBox="1"/>
          <p:nvPr/>
        </p:nvSpPr>
        <p:spPr>
          <a:xfrm>
            <a:off x="594360" y="1344168"/>
            <a:ext cx="402336" cy="402336"/>
          </a:xfrm>
          <a:prstGeom prst="rect">
            <a:avLst/>
          </a:prstGeom>
          <a:noFill/>
          <a:ln/>
        </p:spPr>
        <p:txBody>
          <a:bodyPr wrap="square" lIns="0" tIns="0" rIns="0" bIns="0" rtlCol="0" anchor="ctr"/>
          <a:lstStyle/>
          <a:p>
            <a:pPr marL="0" indent="0" algn="l">
              <a:buNone/>
            </a:pPr>
            <a:r>
              <a:rPr lang="en-US" sz="2200" dirty="0">
                <a:solidFill>
                  <a:schemeClr val="bg1"/>
                </a:solidFill>
                <a:latin typeface="Cambria" pitchFamily="34" charset="0"/>
                <a:ea typeface="Cambria" pitchFamily="34" charset="-122"/>
                <a:cs typeface="Cambria" pitchFamily="34" charset="-120"/>
              </a:rPr>
              <a:t>1</a:t>
            </a:r>
            <a:endParaRPr lang="en-US" sz="2200" dirty="0"/>
          </a:p>
        </p:txBody>
      </p:sp>
      <p:sp>
        <p:nvSpPr>
          <p:cNvPr id="6" name="Text 3"/>
          <p:cNvSpPr txBox="1"/>
          <p:nvPr/>
        </p:nvSpPr>
        <p:spPr>
          <a:xfrm>
            <a:off x="1188720" y="1188720"/>
            <a:ext cx="4023360" cy="713232"/>
          </a:xfrm>
          <a:prstGeom prst="rect">
            <a:avLst/>
          </a:prstGeom>
          <a:noFill/>
          <a:ln/>
        </p:spPr>
        <p:txBody>
          <a:bodyPr wrap="square" lIns="0" tIns="0" rIns="0" bIns="0" rtlCol="0" anchor="ctr"/>
          <a:lstStyle/>
          <a:p>
            <a:pPr marL="0" indent="0">
              <a:buNone/>
            </a:pPr>
            <a:r>
              <a:rPr lang="en-US" sz="1500" b="1" dirty="0">
                <a:solidFill>
                  <a:schemeClr val="bg1"/>
                </a:solidFill>
              </a:rPr>
              <a:t>KCL is a matrix</a:t>
            </a:r>
            <a:endParaRPr lang="en-US" sz="1500" dirty="0"/>
          </a:p>
          <a:p>
            <a:pPr marL="0" indent="0">
              <a:buNone/>
            </a:pPr>
            <a:r>
              <a:rPr lang="en-US" sz="1200" dirty="0">
                <a:solidFill>
                  <a:schemeClr val="accent3"/>
                </a:solidFill>
              </a:rPr>
              <a:t>one equation per node, stamped in by each device</a:t>
            </a:r>
            <a:endParaRPr lang="en-US" sz="1500" dirty="0"/>
          </a:p>
        </p:txBody>
      </p:sp>
      <p:sp>
        <p:nvSpPr>
          <p:cNvPr id="7" name="Takeaway 2"/>
          <p:cNvSpPr/>
          <p:nvPr/>
        </p:nvSpPr>
        <p:spPr>
          <a:xfrm>
            <a:off x="457200" y="2011680"/>
            <a:ext cx="4846320" cy="713232"/>
          </a:xfrm>
          <a:prstGeom prst="rect">
            <a:avLst/>
          </a:prstGeom>
          <a:solidFill>
            <a:schemeClr val="tx2"/>
          </a:solidFill>
          <a:ln/>
        </p:spPr>
        <p:txBody>
          <a:bodyPr/>
          <a:lstStyle/>
          <a:p>
            <a:endParaRPr lang="en-AU"/>
          </a:p>
        </p:txBody>
      </p:sp>
      <p:sp>
        <p:nvSpPr>
          <p:cNvPr id="8" name="Number 2"/>
          <p:cNvSpPr txBox="1"/>
          <p:nvPr/>
        </p:nvSpPr>
        <p:spPr>
          <a:xfrm>
            <a:off x="594360" y="2167128"/>
            <a:ext cx="402336" cy="402336"/>
          </a:xfrm>
          <a:prstGeom prst="rect">
            <a:avLst/>
          </a:prstGeom>
          <a:noFill/>
          <a:ln/>
        </p:spPr>
        <p:txBody>
          <a:bodyPr wrap="square" lIns="0" tIns="0" rIns="0" bIns="0" rtlCol="0" anchor="ctr"/>
          <a:lstStyle/>
          <a:p>
            <a:pPr marL="0" indent="0" algn="l">
              <a:buNone/>
            </a:pPr>
            <a:r>
              <a:rPr lang="en-US" sz="2200" dirty="0">
                <a:solidFill>
                  <a:schemeClr val="bg1"/>
                </a:solidFill>
                <a:latin typeface="Cambria" pitchFamily="34" charset="0"/>
                <a:ea typeface="Cambria" pitchFamily="34" charset="-122"/>
                <a:cs typeface="Cambria" pitchFamily="34" charset="-120"/>
              </a:rPr>
              <a:t>2</a:t>
            </a:r>
            <a:endParaRPr lang="en-US" sz="2200" dirty="0"/>
          </a:p>
        </p:txBody>
      </p:sp>
      <p:sp>
        <p:nvSpPr>
          <p:cNvPr id="9" name="Text 6"/>
          <p:cNvSpPr txBox="1"/>
          <p:nvPr/>
        </p:nvSpPr>
        <p:spPr>
          <a:xfrm>
            <a:off x="1188720" y="2011680"/>
            <a:ext cx="4023360" cy="713232"/>
          </a:xfrm>
          <a:prstGeom prst="rect">
            <a:avLst/>
          </a:prstGeom>
          <a:noFill/>
          <a:ln/>
        </p:spPr>
        <p:txBody>
          <a:bodyPr wrap="square" lIns="0" tIns="0" rIns="0" bIns="0" rtlCol="0" anchor="ctr"/>
          <a:lstStyle/>
          <a:p>
            <a:pPr marL="0" indent="0">
              <a:buNone/>
            </a:pPr>
            <a:r>
              <a:rPr lang="en-US" sz="1500" b="1" dirty="0">
                <a:solidFill>
                  <a:schemeClr val="bg1"/>
                </a:solidFill>
              </a:rPr>
              <a:t>A derivative becomes a difference</a:t>
            </a:r>
            <a:endParaRPr lang="en-US" sz="1500" dirty="0"/>
          </a:p>
          <a:p>
            <a:pPr marL="0" indent="0">
              <a:buNone/>
            </a:pPr>
            <a:r>
              <a:rPr lang="en-US" sz="1200" dirty="0">
                <a:solidFill>
                  <a:schemeClr val="accent3"/>
                </a:solidFill>
              </a:rPr>
              <a:t>each time step is a DC-like solve</a:t>
            </a:r>
            <a:endParaRPr lang="en-US" sz="1500" dirty="0"/>
          </a:p>
        </p:txBody>
      </p:sp>
      <p:sp>
        <p:nvSpPr>
          <p:cNvPr id="10" name="Takeaway 3"/>
          <p:cNvSpPr/>
          <p:nvPr/>
        </p:nvSpPr>
        <p:spPr>
          <a:xfrm>
            <a:off x="457200" y="2834640"/>
            <a:ext cx="4846320" cy="713232"/>
          </a:xfrm>
          <a:prstGeom prst="rect">
            <a:avLst/>
          </a:prstGeom>
          <a:solidFill>
            <a:schemeClr val="tx2"/>
          </a:solidFill>
          <a:ln/>
        </p:spPr>
        <p:txBody>
          <a:bodyPr/>
          <a:lstStyle/>
          <a:p>
            <a:endParaRPr lang="en-AU"/>
          </a:p>
        </p:txBody>
      </p:sp>
      <p:sp>
        <p:nvSpPr>
          <p:cNvPr id="11" name="Number 3"/>
          <p:cNvSpPr txBox="1"/>
          <p:nvPr/>
        </p:nvSpPr>
        <p:spPr>
          <a:xfrm>
            <a:off x="594360" y="2990088"/>
            <a:ext cx="402336" cy="402336"/>
          </a:xfrm>
          <a:prstGeom prst="rect">
            <a:avLst/>
          </a:prstGeom>
          <a:noFill/>
          <a:ln/>
        </p:spPr>
        <p:txBody>
          <a:bodyPr wrap="square" lIns="0" tIns="0" rIns="0" bIns="0" rtlCol="0" anchor="ctr"/>
          <a:lstStyle/>
          <a:p>
            <a:pPr marL="0" indent="0" algn="l">
              <a:buNone/>
            </a:pPr>
            <a:r>
              <a:rPr lang="en-US" sz="2200" dirty="0">
                <a:solidFill>
                  <a:schemeClr val="bg1"/>
                </a:solidFill>
                <a:latin typeface="Cambria" pitchFamily="34" charset="0"/>
                <a:ea typeface="Cambria" pitchFamily="34" charset="-122"/>
                <a:cs typeface="Cambria" pitchFamily="34" charset="-120"/>
              </a:rPr>
              <a:t>3</a:t>
            </a:r>
            <a:endParaRPr lang="en-US" sz="2200" dirty="0"/>
          </a:p>
        </p:txBody>
      </p:sp>
      <p:sp>
        <p:nvSpPr>
          <p:cNvPr id="12" name="Text 9"/>
          <p:cNvSpPr txBox="1"/>
          <p:nvPr/>
        </p:nvSpPr>
        <p:spPr>
          <a:xfrm>
            <a:off x="1188720" y="2834640"/>
            <a:ext cx="4023360" cy="713232"/>
          </a:xfrm>
          <a:prstGeom prst="rect">
            <a:avLst/>
          </a:prstGeom>
          <a:noFill/>
          <a:ln/>
        </p:spPr>
        <p:txBody>
          <a:bodyPr wrap="square" lIns="0" tIns="0" rIns="0" bIns="0" rtlCol="0" anchor="ctr"/>
          <a:lstStyle/>
          <a:p>
            <a:pPr marL="0" indent="0">
              <a:buNone/>
            </a:pPr>
            <a:r>
              <a:rPr lang="en-US" sz="1500" b="1" dirty="0">
                <a:solidFill>
                  <a:schemeClr val="bg1"/>
                </a:solidFill>
              </a:rPr>
              <a:t>A nonlinear device is replaced by its tangent</a:t>
            </a:r>
            <a:endParaRPr lang="en-US" sz="1500" dirty="0"/>
          </a:p>
          <a:p>
            <a:pPr marL="0" indent="0">
              <a:buNone/>
            </a:pPr>
            <a:r>
              <a:rPr lang="en-US" sz="1200" dirty="0">
                <a:solidFill>
                  <a:schemeClr val="accent3"/>
                </a:solidFill>
              </a:rPr>
              <a:t>Newton repeats a linear solve until it settles</a:t>
            </a:r>
            <a:endParaRPr lang="en-US" sz="1500" dirty="0"/>
          </a:p>
        </p:txBody>
      </p:sp>
      <p:sp>
        <p:nvSpPr>
          <p:cNvPr id="13" name="Takeaway 4"/>
          <p:cNvSpPr/>
          <p:nvPr/>
        </p:nvSpPr>
        <p:spPr>
          <a:xfrm>
            <a:off x="457200" y="3657600"/>
            <a:ext cx="4846320" cy="713232"/>
          </a:xfrm>
          <a:prstGeom prst="rect">
            <a:avLst/>
          </a:prstGeom>
          <a:solidFill>
            <a:schemeClr val="accent1"/>
          </a:solidFill>
          <a:ln/>
        </p:spPr>
        <p:txBody>
          <a:bodyPr/>
          <a:lstStyle/>
          <a:p>
            <a:endParaRPr lang="en-AU"/>
          </a:p>
        </p:txBody>
      </p:sp>
      <p:sp>
        <p:nvSpPr>
          <p:cNvPr id="14" name="Number 4"/>
          <p:cNvSpPr txBox="1"/>
          <p:nvPr/>
        </p:nvSpPr>
        <p:spPr>
          <a:xfrm>
            <a:off x="594360" y="3813048"/>
            <a:ext cx="402336" cy="402336"/>
          </a:xfrm>
          <a:prstGeom prst="rect">
            <a:avLst/>
          </a:prstGeom>
          <a:noFill/>
          <a:ln/>
        </p:spPr>
        <p:txBody>
          <a:bodyPr wrap="square" lIns="0" tIns="0" rIns="0" bIns="0" rtlCol="0" anchor="ctr"/>
          <a:lstStyle/>
          <a:p>
            <a:pPr marL="0" indent="0" algn="l">
              <a:buNone/>
            </a:pPr>
            <a:r>
              <a:rPr lang="en-US" sz="2200" dirty="0">
                <a:solidFill>
                  <a:schemeClr val="bg1"/>
                </a:solidFill>
                <a:latin typeface="Cambria" pitchFamily="34" charset="0"/>
                <a:ea typeface="Cambria" pitchFamily="34" charset="-122"/>
                <a:cs typeface="Cambria" pitchFamily="34" charset="-120"/>
              </a:rPr>
              <a:t>4</a:t>
            </a:r>
            <a:endParaRPr lang="en-US" sz="2200" dirty="0"/>
          </a:p>
        </p:txBody>
      </p:sp>
      <p:sp>
        <p:nvSpPr>
          <p:cNvPr id="15" name="Text 12"/>
          <p:cNvSpPr txBox="1"/>
          <p:nvPr/>
        </p:nvSpPr>
        <p:spPr>
          <a:xfrm>
            <a:off x="1188720" y="3657600"/>
            <a:ext cx="4023360" cy="713232"/>
          </a:xfrm>
          <a:prstGeom prst="rect">
            <a:avLst/>
          </a:prstGeom>
          <a:noFill/>
          <a:ln/>
        </p:spPr>
        <p:txBody>
          <a:bodyPr wrap="square" lIns="0" tIns="0" rIns="0" bIns="0" rtlCol="0" anchor="ctr"/>
          <a:lstStyle/>
          <a:p>
            <a:pPr marL="0" indent="0">
              <a:buNone/>
            </a:pPr>
            <a:r>
              <a:rPr lang="en-US" sz="1500" b="1" dirty="0">
                <a:solidFill>
                  <a:schemeClr val="bg1"/>
                </a:solidFill>
              </a:rPr>
              <a:t>One operation underneath</a:t>
            </a:r>
            <a:endParaRPr lang="en-US" sz="1500" dirty="0"/>
          </a:p>
          <a:p>
            <a:pPr marL="0" indent="0">
              <a:buNone/>
            </a:pPr>
            <a:r>
              <a:rPr lang="en-US" sz="1200" dirty="0">
                <a:solidFill>
                  <a:schemeClr val="bg1"/>
                </a:solidFill>
              </a:rPr>
              <a:t>solve  A x = r</a:t>
            </a:r>
            <a:endParaRPr lang="en-US" sz="1500" dirty="0"/>
          </a:p>
        </p:txBody>
      </p:sp>
      <p:sp>
        <p:nvSpPr>
          <p:cNvPr id="16" name="Demo card"/>
          <p:cNvSpPr/>
          <p:nvPr/>
        </p:nvSpPr>
        <p:spPr>
          <a:xfrm>
            <a:off x="5577840" y="1188720"/>
            <a:ext cx="3108960" cy="3291840"/>
          </a:xfrm>
          <a:prstGeom prst="rect">
            <a:avLst/>
          </a:prstGeom>
          <a:solidFill>
            <a:schemeClr val="bg2"/>
          </a:solidFill>
          <a:ln/>
        </p:spPr>
        <p:txBody>
          <a:bodyPr/>
          <a:lstStyle/>
          <a:p>
            <a:endParaRPr lang="en-AU"/>
          </a:p>
        </p:txBody>
      </p:sp>
      <p:sp>
        <p:nvSpPr>
          <p:cNvPr id="17" name="Text 14"/>
          <p:cNvSpPr txBox="1"/>
          <p:nvPr/>
        </p:nvSpPr>
        <p:spPr>
          <a:xfrm>
            <a:off x="5760720" y="1280160"/>
            <a:ext cx="2743200" cy="3108960"/>
          </a:xfrm>
          <a:prstGeom prst="rect">
            <a:avLst/>
          </a:prstGeom>
          <a:noFill/>
          <a:ln/>
        </p:spPr>
        <p:txBody>
          <a:bodyPr wrap="square" lIns="0" tIns="0" rIns="0" bIns="0" rtlCol="0" anchor="t"/>
          <a:lstStyle/>
          <a:p>
            <a:pPr marL="0" indent="0">
              <a:spcAft>
                <a:spcPts val="300"/>
              </a:spcAft>
              <a:buNone/>
            </a:pPr>
            <a:r>
              <a:rPr lang="en-US" sz="1800" b="1" dirty="0">
                <a:solidFill>
                  <a:schemeClr val="accent1"/>
                </a:solidFill>
              </a:rPr>
              <a:t>Live demo</a:t>
            </a:r>
            <a:endParaRPr lang="en-US" sz="1800" dirty="0"/>
          </a:p>
          <a:p>
            <a:pPr marL="0" indent="0">
              <a:spcAft>
                <a:spcPts val="300"/>
              </a:spcAft>
              <a:buNone/>
            </a:pPr>
            <a:r>
              <a:rPr lang="en-US" sz="1200" dirty="0">
                <a:solidFill>
                  <a:schemeClr val="accent6"/>
                </a:solidFill>
              </a:rPr>
              <a:t>3 minutes</a:t>
            </a:r>
            <a:endParaRPr lang="en-US" sz="1800" dirty="0"/>
          </a:p>
          <a:p>
            <a:pPr marL="0" indent="0">
              <a:spcAft>
                <a:spcPts val="300"/>
              </a:spcAft>
              <a:buNone/>
            </a:pPr>
            <a:r>
              <a:rPr lang="en-US" sz="800" dirty="0">
                <a:solidFill>
                  <a:srgbClr val="000000"/>
                </a:solidFill>
              </a:rPr>
              <a:t> </a:t>
            </a:r>
            <a:endParaRPr lang="en-US" sz="1800" dirty="0"/>
          </a:p>
          <a:p>
            <a:pPr marL="0" indent="0">
              <a:spcAft>
                <a:spcPts val="300"/>
              </a:spcAft>
              <a:buNone/>
            </a:pPr>
            <a:r>
              <a:rPr lang="en-US" sz="1300" b="1" dirty="0">
                <a:solidFill>
                  <a:schemeClr val="tx1"/>
                </a:solidFill>
                <a:latin typeface="Courier New" pitchFamily="34" charset="0"/>
                <a:ea typeface="Courier New" pitchFamily="34" charset="-122"/>
                <a:cs typeface="Courier New" pitchFamily="34" charset="-120"/>
              </a:rPr>
              <a:t>rc.cir</a:t>
            </a:r>
            <a:endParaRPr lang="en-US" sz="1800" dirty="0"/>
          </a:p>
          <a:p>
            <a:pPr marL="0" indent="0">
              <a:spcAft>
                <a:spcPts val="300"/>
              </a:spcAft>
              <a:buNone/>
            </a:pPr>
            <a:r>
              <a:rPr lang="en-US" sz="1200" dirty="0">
                <a:solidFill>
                  <a:schemeClr val="accent6"/>
                </a:solidFill>
              </a:rPr>
              <a:t>find the -3 dB point</a:t>
            </a:r>
            <a:endParaRPr lang="en-US" sz="1800" dirty="0"/>
          </a:p>
          <a:p>
            <a:pPr marL="0" indent="0">
              <a:spcAft>
                <a:spcPts val="300"/>
              </a:spcAft>
              <a:buNone/>
            </a:pPr>
            <a:r>
              <a:rPr lang="en-US" sz="1300" b="1" dirty="0">
                <a:solidFill>
                  <a:schemeClr val="tx1"/>
                </a:solidFill>
                <a:latin typeface="Courier New" pitchFamily="34" charset="0"/>
                <a:ea typeface="Courier New" pitchFamily="34" charset="-122"/>
                <a:cs typeface="Courier New" pitchFamily="34" charset="-120"/>
              </a:rPr>
              <a:t>zener.cir</a:t>
            </a:r>
            <a:endParaRPr lang="en-US" sz="1800" dirty="0"/>
          </a:p>
          <a:p>
            <a:pPr marL="0" indent="0">
              <a:spcAft>
                <a:spcPts val="300"/>
              </a:spcAft>
              <a:buNone/>
            </a:pPr>
            <a:r>
              <a:rPr lang="en-US" sz="1200" dirty="0">
                <a:solidFill>
                  <a:schemeClr val="accent6"/>
                </a:solidFill>
              </a:rPr>
              <a:t>the 5.1 V clamp</a:t>
            </a:r>
            <a:endParaRPr lang="en-US" sz="1800" dirty="0"/>
          </a:p>
          <a:p>
            <a:pPr marL="0" indent="0">
              <a:spcAft>
                <a:spcPts val="300"/>
              </a:spcAft>
              <a:buNone/>
            </a:pPr>
            <a:r>
              <a:rPr lang="en-US" sz="1300" b="1" dirty="0">
                <a:solidFill>
                  <a:schemeClr val="tx1"/>
                </a:solidFill>
                <a:latin typeface="Courier New" pitchFamily="34" charset="0"/>
                <a:ea typeface="Courier New" pitchFamily="34" charset="-122"/>
                <a:cs typeface="Courier New" pitchFamily="34" charset="-120"/>
              </a:rPr>
              <a:t>amp.cir</a:t>
            </a:r>
            <a:endParaRPr lang="en-US" sz="1800" dirty="0"/>
          </a:p>
          <a:p>
            <a:pPr marL="0" indent="0">
              <a:spcAft>
                <a:spcPts val="300"/>
              </a:spcAft>
              <a:buNone/>
            </a:pPr>
            <a:r>
              <a:rPr lang="en-US" sz="1200" dirty="0">
                <a:solidFill>
                  <a:schemeClr val="accent6"/>
                </a:solidFill>
              </a:rPr>
              <a:t>gain of 176 on a Bode plot</a:t>
            </a:r>
            <a:endParaRPr lang="en-US" sz="1800" dirty="0"/>
          </a:p>
          <a:p>
            <a:pPr marL="0" indent="0">
              <a:spcAft>
                <a:spcPts val="300"/>
              </a:spcAft>
              <a:buNone/>
            </a:pPr>
            <a:r>
              <a:rPr lang="en-US" sz="1300" b="1" dirty="0">
                <a:solidFill>
                  <a:schemeClr val="tx1"/>
                </a:solidFill>
                <a:latin typeface="Courier New" pitchFamily="34" charset="0"/>
                <a:ea typeface="Courier New" pitchFamily="34" charset="-122"/>
                <a:cs typeface="Courier New" pitchFamily="34" charset="-120"/>
              </a:rPr>
              <a:t>a broken netlist</a:t>
            </a:r>
            <a:endParaRPr lang="en-US" sz="1800" dirty="0"/>
          </a:p>
          <a:p>
            <a:pPr marL="0" indent="0">
              <a:spcAft>
                <a:spcPts val="300"/>
              </a:spcAft>
              <a:buNone/>
            </a:pPr>
            <a:r>
              <a:rPr lang="en-US" sz="1200" dirty="0">
                <a:solidFill>
                  <a:schemeClr val="accent6"/>
                </a:solidFill>
              </a:rPr>
              <a:t>the error names the line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dirty="0">
                <a:solidFill>
                  <a:schemeClr val="tx1"/>
                </a:solidFill>
              </a:rPr>
              <a:t>Limitations and next steps</a:t>
            </a:r>
            <a:endParaRPr lang="en-US" sz="3400" dirty="0"/>
          </a:p>
        </p:txBody>
      </p:sp>
      <p:sp>
        <p:nvSpPr>
          <p:cNvPr id="4" name="Limits card"/>
          <p:cNvSpPr/>
          <p:nvPr/>
        </p:nvSpPr>
        <p:spPr>
          <a:xfrm>
            <a:off x="457200" y="1188720"/>
            <a:ext cx="4023360" cy="3291840"/>
          </a:xfrm>
          <a:prstGeom prst="rect">
            <a:avLst/>
          </a:prstGeom>
          <a:solidFill>
            <a:schemeClr val="bg2"/>
          </a:solidFill>
          <a:ln/>
        </p:spPr>
        <p:txBody>
          <a:bodyPr/>
          <a:lstStyle/>
          <a:p>
            <a:endParaRPr lang="en-AU"/>
          </a:p>
        </p:txBody>
      </p:sp>
      <p:sp>
        <p:nvSpPr>
          <p:cNvPr id="5" name="Text 2"/>
          <p:cNvSpPr txBox="1"/>
          <p:nvPr/>
        </p:nvSpPr>
        <p:spPr>
          <a:xfrm>
            <a:off x="640080" y="1298448"/>
            <a:ext cx="3657600" cy="320040"/>
          </a:xfrm>
          <a:prstGeom prst="rect">
            <a:avLst/>
          </a:prstGeom>
          <a:noFill/>
          <a:ln/>
        </p:spPr>
        <p:txBody>
          <a:bodyPr wrap="square" lIns="0" tIns="0" rIns="0" bIns="0" rtlCol="0" anchor="t"/>
          <a:lstStyle/>
          <a:p>
            <a:pPr marL="0" indent="0">
              <a:buNone/>
            </a:pPr>
            <a:r>
              <a:rPr lang="en-US" sz="1600" b="1" dirty="0">
                <a:solidFill>
                  <a:schemeClr val="accent5"/>
                </a:solidFill>
              </a:rPr>
              <a:t>Not included</a:t>
            </a:r>
            <a:endParaRPr lang="en-US" sz="1600" dirty="0"/>
          </a:p>
        </p:txBody>
      </p:sp>
      <p:sp>
        <p:nvSpPr>
          <p:cNvPr id="6" name="Text 3"/>
          <p:cNvSpPr txBox="1"/>
          <p:nvPr/>
        </p:nvSpPr>
        <p:spPr>
          <a:xfrm>
            <a:off x="640080" y="1691640"/>
            <a:ext cx="365760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Dense matrices: fine for hundreds of unknowns</a:t>
            </a:r>
            <a:endParaRPr lang="en-US" sz="1400" dirty="0"/>
          </a:p>
          <a:p>
            <a:pPr marL="342900" indent="-342900">
              <a:spcAft>
                <a:spcPts val="600"/>
              </a:spcAft>
              <a:buSzPct val="100000"/>
              <a:buChar char="•"/>
            </a:pPr>
            <a:r>
              <a:rPr lang="en-US" sz="1400" dirty="0">
                <a:solidFill>
                  <a:schemeClr val="tx1"/>
                </a:solidFill>
              </a:rPr>
              <a:t>Fixed time step, chosen by the user</a:t>
            </a:r>
            <a:endParaRPr lang="en-US" sz="1400" dirty="0"/>
          </a:p>
          <a:p>
            <a:pPr marL="342900" indent="-342900">
              <a:spcAft>
                <a:spcPts val="600"/>
              </a:spcAft>
              <a:buSzPct val="100000"/>
              <a:buChar char="•"/>
            </a:pPr>
            <a:r>
              <a:rPr lang="en-US" sz="1400" dirty="0">
                <a:solidFill>
                  <a:schemeClr val="tx1"/>
                </a:solidFill>
              </a:rPr>
              <a:t>Static device models: no internal capacitance, no temperature</a:t>
            </a:r>
            <a:endParaRPr lang="en-US" sz="1400" dirty="0"/>
          </a:p>
          <a:p>
            <a:pPr marL="342900" indent="-342900">
              <a:spcAft>
                <a:spcPts val="600"/>
              </a:spcAft>
              <a:buSzPct val="100000"/>
              <a:buChar char="•"/>
            </a:pPr>
            <a:r>
              <a:rPr lang="en-US" sz="1400" dirty="0">
                <a:solidFill>
                  <a:schemeClr val="tx1"/>
                </a:solidFill>
              </a:rPr>
              <a:t>Small netlist language: no .param, no controlled sources</a:t>
            </a:r>
            <a:endParaRPr lang="en-US" sz="1400" dirty="0"/>
          </a:p>
          <a:p>
            <a:pPr marL="342900" indent="-342900">
              <a:spcAft>
                <a:spcPts val="600"/>
              </a:spcAft>
              <a:buSzPct val="100000"/>
              <a:buChar char="•"/>
            </a:pPr>
            <a:r>
              <a:rPr lang="en-US" sz="1400" dirty="0">
                <a:solidFill>
                  <a:schemeClr val="tx1"/>
                </a:solidFill>
              </a:rPr>
              <a:t>Checked by hand, not against ngspice</a:t>
            </a:r>
            <a:endParaRPr lang="en-US" sz="1400" dirty="0"/>
          </a:p>
        </p:txBody>
      </p:sp>
      <p:sp>
        <p:nvSpPr>
          <p:cNvPr id="7" name="Next card"/>
          <p:cNvSpPr/>
          <p:nvPr/>
        </p:nvSpPr>
        <p:spPr>
          <a:xfrm>
            <a:off x="4663440" y="1188720"/>
            <a:ext cx="4023360" cy="3291840"/>
          </a:xfrm>
          <a:prstGeom prst="rect">
            <a:avLst/>
          </a:prstGeom>
          <a:solidFill>
            <a:schemeClr val="tx1"/>
          </a:solidFill>
          <a:ln/>
        </p:spPr>
        <p:txBody>
          <a:bodyPr/>
          <a:lstStyle/>
          <a:p>
            <a:endParaRPr lang="en-AU"/>
          </a:p>
        </p:txBody>
      </p:sp>
      <p:sp>
        <p:nvSpPr>
          <p:cNvPr id="8" name="Text 5"/>
          <p:cNvSpPr txBox="1"/>
          <p:nvPr/>
        </p:nvSpPr>
        <p:spPr>
          <a:xfrm>
            <a:off x="4846320" y="1298448"/>
            <a:ext cx="3657600" cy="320040"/>
          </a:xfrm>
          <a:prstGeom prst="rect">
            <a:avLst/>
          </a:prstGeom>
          <a:noFill/>
          <a:ln/>
        </p:spPr>
        <p:txBody>
          <a:bodyPr wrap="square" lIns="0" tIns="0" rIns="0" bIns="0" rtlCol="0" anchor="t"/>
          <a:lstStyle/>
          <a:p>
            <a:pPr marL="0" indent="0">
              <a:buNone/>
            </a:pPr>
            <a:r>
              <a:rPr lang="en-US" sz="1600" b="1" dirty="0">
                <a:solidFill>
                  <a:schemeClr val="accent4"/>
                </a:solidFill>
              </a:rPr>
              <a:t>Possible next steps</a:t>
            </a:r>
            <a:endParaRPr lang="en-US" sz="1600" dirty="0"/>
          </a:p>
        </p:txBody>
      </p:sp>
      <p:sp>
        <p:nvSpPr>
          <p:cNvPr id="9" name="Text 6"/>
          <p:cNvSpPr txBox="1"/>
          <p:nvPr/>
        </p:nvSpPr>
        <p:spPr>
          <a:xfrm>
            <a:off x="4846320" y="1691640"/>
            <a:ext cx="3657600" cy="2697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Sparse matrices</a:t>
            </a:r>
            <a:endParaRPr lang="en-US" sz="1400" dirty="0"/>
          </a:p>
          <a:p>
            <a:pPr marL="342900" indent="-342900">
              <a:spcAft>
                <a:spcPts val="600"/>
              </a:spcAft>
              <a:buSzPct val="100000"/>
              <a:buChar char="•"/>
            </a:pPr>
            <a:r>
              <a:rPr lang="en-US" sz="1400" dirty="0">
                <a:solidFill>
                  <a:schemeClr val="bg1"/>
                </a:solidFill>
              </a:rPr>
              <a:t>Adaptive time step</a:t>
            </a:r>
            <a:endParaRPr lang="en-US" sz="1400" dirty="0"/>
          </a:p>
          <a:p>
            <a:pPr marL="342900" indent="-342900">
              <a:spcAft>
                <a:spcPts val="600"/>
              </a:spcAft>
              <a:buSzPct val="100000"/>
              <a:buChar char="•"/>
            </a:pPr>
            <a:r>
              <a:rPr lang="en-US" sz="1400" dirty="0">
                <a:solidFill>
                  <a:schemeClr val="bg1"/>
                </a:solidFill>
              </a:rPr>
              <a:t>Device capacitances</a:t>
            </a:r>
            <a:endParaRPr lang="en-US" sz="1400" dirty="0"/>
          </a:p>
          <a:p>
            <a:pPr marL="342900" indent="-342900">
              <a:spcAft>
                <a:spcPts val="600"/>
              </a:spcAft>
              <a:buSzPct val="100000"/>
              <a:buChar char="•"/>
            </a:pPr>
            <a:r>
              <a:rPr lang="en-US" sz="1400" dirty="0">
                <a:solidFill>
                  <a:schemeClr val="bg1"/>
                </a:solidFill>
              </a:rPr>
              <a:t>.param and controlled sources (ideal op-amps)</a:t>
            </a:r>
            <a:endParaRPr lang="en-US" sz="1400" dirty="0"/>
          </a:p>
          <a:p>
            <a:pPr marL="342900" indent="-342900">
              <a:spcAft>
                <a:spcPts val="600"/>
              </a:spcAft>
              <a:buSzPct val="100000"/>
              <a:buChar char="•"/>
            </a:pPr>
            <a:r>
              <a:rPr lang="en-US" sz="1400" dirty="0">
                <a:solidFill>
                  <a:schemeClr val="bg1"/>
                </a:solidFill>
              </a:rPr>
              <a:t>A side-by-side run against ngspice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theme/theme1.xml><?xml version="1.0" encoding="utf-8"?>
<a:theme xmlns:a="http://schemas.openxmlformats.org/drawingml/2006/main" name="Circuit Board">
  <a:themeElements>
    <a:clrScheme name="Circuit Board">
      <a:dk1>
        <a:srgbClr val="1C1C1C"/>
      </a:dk1>
      <a:lt1>
        <a:srgbClr val="FFFFFF"/>
      </a:lt1>
      <a:dk2>
        <a:srgbClr val="34393D"/>
      </a:dk2>
      <a:lt2>
        <a:srgbClr val="F0F1F2"/>
      </a:lt2>
      <a:accent1>
        <a:srgbClr val="1F5F7A"/>
      </a:accent1>
      <a:accent2>
        <a:srgbClr val="6E9B4A"/>
      </a:accent2>
      <a:accent3>
        <a:srgbClr val="9CC3D6"/>
      </a:accent3>
      <a:accent4>
        <a:srgbClr val="E3CC82"/>
      </a:accent4>
      <a:accent5>
        <a:srgbClr val="9B2C2C"/>
      </a:accent5>
      <a:accent6>
        <a:srgbClr val="66696B"/>
      </a:accent6>
      <a:hlink>
        <a:srgbClr val="1F5F7A"/>
      </a:hlink>
      <a:folHlink>
        <a:srgbClr val="66696B"/>
      </a:folHlink>
    </a:clrScheme>
    <a:fontScheme name="Circuit Bo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531</TotalTime>
  <Words>7860</Words>
  <Application>Microsoft Office PowerPoint</Application>
  <PresentationFormat>On-screen Show (16:9)</PresentationFormat>
  <Paragraphs>368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Circuit Board</vt:lpstr>
      <vt:lpstr>SPICE Solver</vt:lpstr>
      <vt:lpstr>What we built</vt:lpstr>
      <vt:lpstr>The pipeline: file to picture</vt:lpstr>
      <vt:lpstr>The file structure</vt:lpstr>
      <vt:lpstr>Parsing and subcircuits</vt:lpstr>
      <vt:lpstr>Applications in other fields</vt:lpstr>
      <vt:lpstr>KCL becomes a matrix</vt:lpstr>
      <vt:lpstr>Modified nodal analysis and stamps</vt:lpstr>
      <vt:lpstr>One equation, three analyses</vt:lpstr>
      <vt:lpstr>Transient analysis: stepping through time</vt:lpstr>
      <vt:lpstr>Nonlinear devices and Newton's method</vt:lpstr>
      <vt:lpstr>Helping Newton's method converge</vt:lpstr>
      <vt:lpstr>Transistors and small-signal gain</vt:lpstr>
      <vt:lpstr>Checking the results</vt:lpstr>
      <vt:lpstr>Engineering the software</vt:lpstr>
      <vt:lpstr>Summary</vt:lpstr>
      <vt:lpstr>Limitations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SPICE Solver: how a circuit simulator works</dc:title>
  <dc:subject>PptxGenJS Presentation</dc:subject>
  <dc:creator>SPICE Solver project</dc:creator>
  <cp:lastModifiedBy>Baker, Hudson</cp:lastModifiedBy>
  <cp:revision>2</cp:revision>
  <dcterms:created xsi:type="dcterms:W3CDTF">2026-10-29T11:34:23Z</dcterms:created>
  <dcterms:modified xsi:type="dcterms:W3CDTF">2026-10-29T21:34:54Z</dcterms:modified>
</cp:coreProperties>
</file>